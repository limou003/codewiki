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</p:sldIdLst>
  <p:sldSz cx="12192000" cy="6858000"/>
  <p:notesSz cx="6858000" cy="9144000"/>
  <p:custDataLst>
    <p:tags r:id="rId1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3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>
        <p:scale>
          <a:sx n="125" d="100"/>
          <a:sy n="125" d="100"/>
        </p:scale>
        <p:origin x="804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image1.jpe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18D650-3A15-443A-B878-38CFEB8982A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F223B-53FA-448A-B05D-AD632DCD340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5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5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tags" Target="../tags/tag7.xml"/><Relationship Id="rId5" Type="http://schemas.openxmlformats.org/officeDocument/2006/relationships/tags" Target="../tags/tag8.xml"/><Relationship Id="rId6" Type="http://schemas.openxmlformats.org/officeDocument/2006/relationships/tags" Target="../tags/tag9.xml"/><Relationship Id="rId7" Type="http://schemas.openxmlformats.org/officeDocument/2006/relationships/image" Target="../media/image4.png"/><Relationship Id="rId8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282" y="3602075"/>
            <a:ext cx="6287881" cy="2749276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3" y="6296878"/>
            <a:ext cx="12191999" cy="561122"/>
          </a:xfrm>
          <a:prstGeom prst="rect">
            <a:avLst/>
          </a:prstGeom>
          <a:solidFill>
            <a:srgbClr val="005375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0" y="1348740"/>
            <a:ext cx="12192000" cy="2173605"/>
          </a:xfrm>
          <a:prstGeom prst="rect">
            <a:avLst/>
          </a:prstGeom>
          <a:solidFill>
            <a:srgbClr val="005375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6" y="672215"/>
            <a:ext cx="11174288" cy="0"/>
          </a:xfrm>
          <a:prstGeom prst="line">
            <a:avLst/>
          </a:prstGeom>
          <a:ln w="2540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495300" y="953588"/>
            <a:ext cx="11201400" cy="2069647"/>
          </a:xfrm>
        </p:spPr>
        <p:txBody>
          <a:bodyPr wrap="square"/>
          <a:lstStyle/>
          <a:p>
            <a:r>
              <a:rPr sz="2800" b="1">
                <a:solidFill>
                  <a:srgbClr val="FFFFFF"/>
                </a:solidFill>
              </a:rPr>
              <a:t>基于RAG检索的智能代码问答系统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2800" b="1">
                <a:solidFill>
                  <a:srgbClr val="FFFFFF"/>
                </a:solidFill>
              </a:rPr>
              <a:t>设计与实现</a:t>
            </a:r>
          </a:p>
        </p:txBody>
      </p:sp>
      <p:sp>
        <p:nvSpPr>
          <p:cNvPr id="8" name="副标题 2"/>
          <p:cNvSpPr>
            <a:spLocks noGrp="1"/>
          </p:cNvSpPr>
          <p:nvPr>
            <p:ph type="subTitle" idx="1"/>
          </p:nvPr>
        </p:nvSpPr>
        <p:spPr>
          <a:xfrm>
            <a:off x="482600" y="3944938"/>
            <a:ext cx="11214100" cy="680402"/>
          </a:xfrm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FFFFFF"/>
                </a:solidFill>
              </a:rPr>
              <a:t>汇报人：李栋梁    指导教师：王金宝</a:t>
            </a:r>
            <a:endParaRPr lang="en-US" altLang="zh-CN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副标题 2"/>
          <p:cNvSpPr txBox="1"/>
          <p:nvPr/>
        </p:nvSpPr>
        <p:spPr>
          <a:xfrm>
            <a:off x="495300" y="4633496"/>
            <a:ext cx="11214100" cy="680402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400" b="0">
                <a:solidFill>
                  <a:srgbClr val="FFFFFF"/>
                </a:solidFill>
              </a:rPr>
              <a:t>2026年03月18日</a:t>
            </a:r>
            <a:endParaRPr lang="zh-CN" altLang="en-US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0" y="254934"/>
            <a:ext cx="41198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 b="0"/>
              <a:t>本科毕业论文中期答辩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8710" y="228600"/>
            <a:ext cx="1061070" cy="463936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14" y="6415212"/>
            <a:ext cx="1655733" cy="324128"/>
          </a:xfrm>
          <a:prstGeom prst="rect">
            <a:avLst/>
          </a:prstGeom>
        </p:spPr>
      </p:pic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282" y="3602075"/>
            <a:ext cx="6287881" cy="2749276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3" y="6296878"/>
            <a:ext cx="12191999" cy="561122"/>
          </a:xfrm>
          <a:prstGeom prst="rect">
            <a:avLst/>
          </a:prstGeom>
          <a:solidFill>
            <a:srgbClr val="005375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矩形 4"/>
          <p:cNvSpPr/>
          <p:nvPr/>
        </p:nvSpPr>
        <p:spPr>
          <a:xfrm>
            <a:off x="0" y="1348740"/>
            <a:ext cx="12192000" cy="2173605"/>
          </a:xfrm>
          <a:prstGeom prst="rect">
            <a:avLst/>
          </a:prstGeom>
          <a:solidFill>
            <a:srgbClr val="005375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接连接符 5"/>
          <p:cNvCxnSpPr/>
          <p:nvPr/>
        </p:nvCxnSpPr>
        <p:spPr>
          <a:xfrm flipH="1">
            <a:off x="6" y="672215"/>
            <a:ext cx="11174288" cy="0"/>
          </a:xfrm>
          <a:prstGeom prst="line">
            <a:avLst/>
          </a:prstGeom>
          <a:ln w="2540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标题 1"/>
          <p:cNvSpPr>
            <a:spLocks noGrp="1"/>
          </p:cNvSpPr>
          <p:nvPr>
            <p:ph type="ctrTitle"/>
          </p:nvPr>
        </p:nvSpPr>
        <p:spPr>
          <a:xfrm>
            <a:off x="495300" y="953588"/>
            <a:ext cx="11201400" cy="2069647"/>
          </a:xfrm>
        </p:spPr>
        <p:txBody>
          <a:bodyPr wrap="square"/>
          <a:lstStyle/>
          <a:p>
            <a:r>
              <a:rPr sz="2800" b="1">
                <a:solidFill>
                  <a:srgbClr val="FFFFFF"/>
                </a:solidFill>
              </a:rPr>
              <a:t>基于RAG检索的智能代码问答系统</a:t>
            </a:r>
            <a:endParaRPr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2800" b="1">
                <a:solidFill>
                  <a:srgbClr val="FFFFFF"/>
                </a:solidFill>
              </a:rPr>
              <a:t>设计与实现</a:t>
            </a:r>
          </a:p>
        </p:txBody>
      </p:sp>
      <p:sp>
        <p:nvSpPr>
          <p:cNvPr id="8" name="副标题 2"/>
          <p:cNvSpPr>
            <a:spLocks noGrp="1"/>
          </p:cNvSpPr>
          <p:nvPr>
            <p:ph type="subTitle" idx="1"/>
          </p:nvPr>
        </p:nvSpPr>
        <p:spPr>
          <a:xfrm>
            <a:off x="482600" y="3944938"/>
            <a:ext cx="11214100" cy="680402"/>
          </a:xfrm>
        </p:spPr>
        <p:txBody>
          <a:bodyPr wrap="square">
            <a:normAutofit/>
          </a:bodyPr>
          <a:lstStyle/>
          <a:p>
            <a:r>
              <a:rPr sz="1600" b="0">
                <a:solidFill>
                  <a:srgbClr val="FFFFFF"/>
                </a:solidFill>
              </a:rPr>
              <a:t>汇报人：李栋梁    指导教师：王金宝</a:t>
            </a:r>
            <a:endParaRPr lang="en-US" altLang="zh-CN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9" name="副标题 2"/>
          <p:cNvSpPr txBox="1"/>
          <p:nvPr/>
        </p:nvSpPr>
        <p:spPr>
          <a:xfrm>
            <a:off x="495300" y="4633496"/>
            <a:ext cx="11214100" cy="680402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400" b="0">
                <a:solidFill>
                  <a:srgbClr val="FFFFFF"/>
                </a:solidFill>
              </a:rPr>
              <a:t>2026年03月18日</a:t>
            </a:r>
            <a:endParaRPr lang="zh-CN" altLang="en-US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0" y="254934"/>
            <a:ext cx="411988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 b="0"/>
              <a:t>本科毕业论文中期答辩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8710" y="228600"/>
            <a:ext cx="1061070" cy="463936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14" y="6415212"/>
            <a:ext cx="1655733" cy="324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gwheels_376015"/>
          <p:cNvSpPr/>
          <p:nvPr/>
        </p:nvSpPr>
        <p:spPr>
          <a:xfrm>
            <a:off x="968833" y="1415499"/>
            <a:ext cx="4224055" cy="4280147"/>
          </a:xfrm>
          <a:custGeom>
            <a:avLst/>
            <a:gdLst>
              <a:gd name="T0" fmla="*/ 3621 w 6468"/>
              <a:gd name="T1" fmla="*/ 3299 h 6564"/>
              <a:gd name="T2" fmla="*/ 4214 w 6468"/>
              <a:gd name="T3" fmla="*/ 4727 h 6564"/>
              <a:gd name="T4" fmla="*/ 6337 w 6468"/>
              <a:gd name="T5" fmla="*/ 4571 h 6564"/>
              <a:gd name="T6" fmla="*/ 5974 w 6468"/>
              <a:gd name="T7" fmla="*/ 3603 h 6564"/>
              <a:gd name="T8" fmla="*/ 6429 w 6468"/>
              <a:gd name="T9" fmla="*/ 3225 h 6564"/>
              <a:gd name="T10" fmla="*/ 6022 w 6468"/>
              <a:gd name="T11" fmla="*/ 2697 h 6564"/>
              <a:gd name="T12" fmla="*/ 5080 w 6468"/>
              <a:gd name="T13" fmla="*/ 2269 h 6564"/>
              <a:gd name="T14" fmla="*/ 5136 w 6468"/>
              <a:gd name="T15" fmla="*/ 1681 h 6564"/>
              <a:gd name="T16" fmla="*/ 4477 w 6468"/>
              <a:gd name="T17" fmla="*/ 1593 h 6564"/>
              <a:gd name="T18" fmla="*/ 3837 w 6468"/>
              <a:gd name="T19" fmla="*/ 1917 h 6564"/>
              <a:gd name="T20" fmla="*/ 3357 w 6468"/>
              <a:gd name="T21" fmla="*/ 2412 h 6564"/>
              <a:gd name="T22" fmla="*/ 3445 w 6468"/>
              <a:gd name="T23" fmla="*/ 2889 h 6564"/>
              <a:gd name="T24" fmla="*/ 5048 w 6468"/>
              <a:gd name="T25" fmla="*/ 3547 h 6564"/>
              <a:gd name="T26" fmla="*/ 2792 w 6468"/>
              <a:gd name="T27" fmla="*/ 4483 h 6564"/>
              <a:gd name="T28" fmla="*/ 2397 w 6468"/>
              <a:gd name="T29" fmla="*/ 3364 h 6564"/>
              <a:gd name="T30" fmla="*/ 1830 w 6468"/>
              <a:gd name="T31" fmla="*/ 3843 h 6564"/>
              <a:gd name="T32" fmla="*/ 1502 w 6468"/>
              <a:gd name="T33" fmla="*/ 4577 h 6564"/>
              <a:gd name="T34" fmla="*/ 1589 w 6468"/>
              <a:gd name="T35" fmla="*/ 5239 h 6564"/>
              <a:gd name="T36" fmla="*/ 2178 w 6468"/>
              <a:gd name="T37" fmla="*/ 5181 h 6564"/>
              <a:gd name="T38" fmla="*/ 2609 w 6468"/>
              <a:gd name="T39" fmla="*/ 6123 h 6564"/>
              <a:gd name="T40" fmla="*/ 3138 w 6468"/>
              <a:gd name="T41" fmla="*/ 6528 h 6564"/>
              <a:gd name="T42" fmla="*/ 3513 w 6468"/>
              <a:gd name="T43" fmla="*/ 6072 h 6564"/>
              <a:gd name="T44" fmla="*/ 4484 w 6468"/>
              <a:gd name="T45" fmla="*/ 6433 h 6564"/>
              <a:gd name="T46" fmla="*/ 5145 w 6468"/>
              <a:gd name="T47" fmla="*/ 6347 h 6564"/>
              <a:gd name="T48" fmla="*/ 5088 w 6468"/>
              <a:gd name="T49" fmla="*/ 5759 h 6564"/>
              <a:gd name="T50" fmla="*/ 6029 w 6468"/>
              <a:gd name="T51" fmla="*/ 5328 h 6564"/>
              <a:gd name="T52" fmla="*/ 6434 w 6468"/>
              <a:gd name="T53" fmla="*/ 4799 h 6564"/>
              <a:gd name="T54" fmla="*/ 370 w 6468"/>
              <a:gd name="T55" fmla="*/ 1975 h 6564"/>
              <a:gd name="T56" fmla="*/ 0 w 6468"/>
              <a:gd name="T57" fmla="*/ 1827 h 6564"/>
              <a:gd name="T58" fmla="*/ 148 w 6468"/>
              <a:gd name="T59" fmla="*/ 1436 h 6564"/>
              <a:gd name="T60" fmla="*/ 580 w 6468"/>
              <a:gd name="T61" fmla="*/ 947 h 6564"/>
              <a:gd name="T62" fmla="*/ 424 w 6468"/>
              <a:gd name="T63" fmla="*/ 583 h 6564"/>
              <a:gd name="T64" fmla="*/ 802 w 6468"/>
              <a:gd name="T65" fmla="*/ 412 h 6564"/>
              <a:gd name="T66" fmla="*/ 1454 w 6468"/>
              <a:gd name="T67" fmla="*/ 371 h 6564"/>
              <a:gd name="T68" fmla="*/ 1602 w 6468"/>
              <a:gd name="T69" fmla="*/ 0 h 6564"/>
              <a:gd name="T70" fmla="*/ 1993 w 6468"/>
              <a:gd name="T71" fmla="*/ 148 h 6564"/>
              <a:gd name="T72" fmla="*/ 2482 w 6468"/>
              <a:gd name="T73" fmla="*/ 580 h 6564"/>
              <a:gd name="T74" fmla="*/ 2848 w 6468"/>
              <a:gd name="T75" fmla="*/ 423 h 6564"/>
              <a:gd name="T76" fmla="*/ 3018 w 6468"/>
              <a:gd name="T77" fmla="*/ 801 h 6564"/>
              <a:gd name="T78" fmla="*/ 3060 w 6468"/>
              <a:gd name="T79" fmla="*/ 1453 h 6564"/>
              <a:gd name="T80" fmla="*/ 3430 w 6468"/>
              <a:gd name="T81" fmla="*/ 1601 h 6564"/>
              <a:gd name="T82" fmla="*/ 3282 w 6468"/>
              <a:gd name="T83" fmla="*/ 1992 h 6564"/>
              <a:gd name="T84" fmla="*/ 2850 w 6468"/>
              <a:gd name="T85" fmla="*/ 2481 h 6564"/>
              <a:gd name="T86" fmla="*/ 3008 w 6468"/>
              <a:gd name="T87" fmla="*/ 2847 h 6564"/>
              <a:gd name="T88" fmla="*/ 2629 w 6468"/>
              <a:gd name="T89" fmla="*/ 3017 h 6564"/>
              <a:gd name="T90" fmla="*/ 1977 w 6468"/>
              <a:gd name="T91" fmla="*/ 3059 h 6564"/>
              <a:gd name="T92" fmla="*/ 1829 w 6468"/>
              <a:gd name="T93" fmla="*/ 3429 h 6564"/>
              <a:gd name="T94" fmla="*/ 1438 w 6468"/>
              <a:gd name="T95" fmla="*/ 3281 h 6564"/>
              <a:gd name="T96" fmla="*/ 949 w 6468"/>
              <a:gd name="T97" fmla="*/ 2849 h 6564"/>
              <a:gd name="T98" fmla="*/ 584 w 6468"/>
              <a:gd name="T99" fmla="*/ 3007 h 6564"/>
              <a:gd name="T100" fmla="*/ 413 w 6468"/>
              <a:gd name="T101" fmla="*/ 2628 h 6564"/>
              <a:gd name="T102" fmla="*/ 370 w 6468"/>
              <a:gd name="T103" fmla="*/ 1975 h 6564"/>
              <a:gd name="T104" fmla="*/ 2173 w 6468"/>
              <a:gd name="T105" fmla="*/ 2177 h 6564"/>
              <a:gd name="T106" fmla="*/ 1257 w 6468"/>
              <a:gd name="T107" fmla="*/ 1251 h 65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6468" h="6564">
                <a:moveTo>
                  <a:pt x="3204" y="4309"/>
                </a:moveTo>
                <a:cubicBezTo>
                  <a:pt x="3040" y="3916"/>
                  <a:pt x="3228" y="3463"/>
                  <a:pt x="3621" y="3299"/>
                </a:cubicBezTo>
                <a:cubicBezTo>
                  <a:pt x="4014" y="3135"/>
                  <a:pt x="4468" y="3323"/>
                  <a:pt x="4632" y="3716"/>
                </a:cubicBezTo>
                <a:cubicBezTo>
                  <a:pt x="4796" y="4109"/>
                  <a:pt x="4608" y="4563"/>
                  <a:pt x="4214" y="4727"/>
                </a:cubicBezTo>
                <a:cubicBezTo>
                  <a:pt x="3821" y="4891"/>
                  <a:pt x="3368" y="4703"/>
                  <a:pt x="3204" y="4309"/>
                </a:cubicBezTo>
                <a:close/>
                <a:moveTo>
                  <a:pt x="6337" y="4571"/>
                </a:moveTo>
                <a:lnTo>
                  <a:pt x="5974" y="4421"/>
                </a:lnTo>
                <a:cubicBezTo>
                  <a:pt x="6028" y="4156"/>
                  <a:pt x="6029" y="3877"/>
                  <a:pt x="5974" y="3603"/>
                </a:cubicBezTo>
                <a:lnTo>
                  <a:pt x="6336" y="3452"/>
                </a:lnTo>
                <a:cubicBezTo>
                  <a:pt x="6424" y="3416"/>
                  <a:pt x="6466" y="3315"/>
                  <a:pt x="6429" y="3225"/>
                </a:cubicBezTo>
                <a:lnTo>
                  <a:pt x="6249" y="2791"/>
                </a:lnTo>
                <a:cubicBezTo>
                  <a:pt x="6213" y="2703"/>
                  <a:pt x="6112" y="2660"/>
                  <a:pt x="6022" y="2697"/>
                </a:cubicBezTo>
                <a:lnTo>
                  <a:pt x="5660" y="2848"/>
                </a:lnTo>
                <a:cubicBezTo>
                  <a:pt x="5504" y="2615"/>
                  <a:pt x="5305" y="2419"/>
                  <a:pt x="5080" y="2269"/>
                </a:cubicBezTo>
                <a:lnTo>
                  <a:pt x="5229" y="1907"/>
                </a:lnTo>
                <a:cubicBezTo>
                  <a:pt x="5265" y="1819"/>
                  <a:pt x="5224" y="1717"/>
                  <a:pt x="5136" y="1681"/>
                </a:cubicBezTo>
                <a:lnTo>
                  <a:pt x="4702" y="1500"/>
                </a:lnTo>
                <a:cubicBezTo>
                  <a:pt x="4614" y="1464"/>
                  <a:pt x="4513" y="1505"/>
                  <a:pt x="4477" y="1593"/>
                </a:cubicBezTo>
                <a:lnTo>
                  <a:pt x="4328" y="1956"/>
                </a:lnTo>
                <a:cubicBezTo>
                  <a:pt x="4168" y="1924"/>
                  <a:pt x="4002" y="1911"/>
                  <a:pt x="3837" y="1917"/>
                </a:cubicBezTo>
                <a:cubicBezTo>
                  <a:pt x="3804" y="2165"/>
                  <a:pt x="3609" y="2361"/>
                  <a:pt x="3364" y="2397"/>
                </a:cubicBezTo>
                <a:cubicBezTo>
                  <a:pt x="3361" y="2403"/>
                  <a:pt x="3360" y="2407"/>
                  <a:pt x="3357" y="2412"/>
                </a:cubicBezTo>
                <a:cubicBezTo>
                  <a:pt x="3426" y="2507"/>
                  <a:pt x="3465" y="2621"/>
                  <a:pt x="3465" y="2743"/>
                </a:cubicBezTo>
                <a:cubicBezTo>
                  <a:pt x="3465" y="2793"/>
                  <a:pt x="3458" y="2841"/>
                  <a:pt x="3445" y="2889"/>
                </a:cubicBezTo>
                <a:cubicBezTo>
                  <a:pt x="3448" y="2888"/>
                  <a:pt x="3449" y="2887"/>
                  <a:pt x="3452" y="2887"/>
                </a:cubicBezTo>
                <a:cubicBezTo>
                  <a:pt x="4073" y="2628"/>
                  <a:pt x="4789" y="2924"/>
                  <a:pt x="5048" y="3547"/>
                </a:cubicBezTo>
                <a:cubicBezTo>
                  <a:pt x="5306" y="4168"/>
                  <a:pt x="5010" y="4884"/>
                  <a:pt x="4388" y="5143"/>
                </a:cubicBezTo>
                <a:cubicBezTo>
                  <a:pt x="3766" y="5401"/>
                  <a:pt x="3050" y="5105"/>
                  <a:pt x="2792" y="4483"/>
                </a:cubicBezTo>
                <a:cubicBezTo>
                  <a:pt x="2650" y="4140"/>
                  <a:pt x="2676" y="3771"/>
                  <a:pt x="2832" y="3464"/>
                </a:cubicBezTo>
                <a:cubicBezTo>
                  <a:pt x="2682" y="3491"/>
                  <a:pt x="2524" y="3459"/>
                  <a:pt x="2397" y="3364"/>
                </a:cubicBezTo>
                <a:cubicBezTo>
                  <a:pt x="2392" y="3367"/>
                  <a:pt x="2388" y="3368"/>
                  <a:pt x="2382" y="3369"/>
                </a:cubicBezTo>
                <a:cubicBezTo>
                  <a:pt x="2341" y="3637"/>
                  <a:pt x="2109" y="3843"/>
                  <a:pt x="1830" y="3843"/>
                </a:cubicBezTo>
                <a:cubicBezTo>
                  <a:pt x="1814" y="4035"/>
                  <a:pt x="1824" y="4231"/>
                  <a:pt x="1864" y="4427"/>
                </a:cubicBezTo>
                <a:lnTo>
                  <a:pt x="1502" y="4577"/>
                </a:lnTo>
                <a:cubicBezTo>
                  <a:pt x="1414" y="4613"/>
                  <a:pt x="1372" y="4715"/>
                  <a:pt x="1409" y="4804"/>
                </a:cubicBezTo>
                <a:lnTo>
                  <a:pt x="1589" y="5239"/>
                </a:lnTo>
                <a:cubicBezTo>
                  <a:pt x="1625" y="5327"/>
                  <a:pt x="1726" y="5369"/>
                  <a:pt x="1816" y="5332"/>
                </a:cubicBezTo>
                <a:lnTo>
                  <a:pt x="2178" y="5181"/>
                </a:lnTo>
                <a:cubicBezTo>
                  <a:pt x="2334" y="5415"/>
                  <a:pt x="2533" y="5611"/>
                  <a:pt x="2758" y="5760"/>
                </a:cubicBezTo>
                <a:lnTo>
                  <a:pt x="2609" y="6123"/>
                </a:lnTo>
                <a:cubicBezTo>
                  <a:pt x="2573" y="6211"/>
                  <a:pt x="2614" y="6312"/>
                  <a:pt x="2702" y="6348"/>
                </a:cubicBezTo>
                <a:lnTo>
                  <a:pt x="3138" y="6528"/>
                </a:lnTo>
                <a:cubicBezTo>
                  <a:pt x="3226" y="6564"/>
                  <a:pt x="3328" y="6523"/>
                  <a:pt x="3364" y="6435"/>
                </a:cubicBezTo>
                <a:lnTo>
                  <a:pt x="3513" y="6072"/>
                </a:lnTo>
                <a:cubicBezTo>
                  <a:pt x="3778" y="6125"/>
                  <a:pt x="4057" y="6127"/>
                  <a:pt x="4333" y="6072"/>
                </a:cubicBezTo>
                <a:lnTo>
                  <a:pt x="4484" y="6433"/>
                </a:lnTo>
                <a:cubicBezTo>
                  <a:pt x="4520" y="6521"/>
                  <a:pt x="4621" y="6564"/>
                  <a:pt x="4710" y="6527"/>
                </a:cubicBezTo>
                <a:lnTo>
                  <a:pt x="5145" y="6347"/>
                </a:lnTo>
                <a:cubicBezTo>
                  <a:pt x="5233" y="6311"/>
                  <a:pt x="5276" y="6209"/>
                  <a:pt x="5238" y="6120"/>
                </a:cubicBezTo>
                <a:lnTo>
                  <a:pt x="5088" y="5759"/>
                </a:lnTo>
                <a:cubicBezTo>
                  <a:pt x="5321" y="5603"/>
                  <a:pt x="5517" y="5404"/>
                  <a:pt x="5666" y="5179"/>
                </a:cubicBezTo>
                <a:lnTo>
                  <a:pt x="6029" y="5328"/>
                </a:lnTo>
                <a:cubicBezTo>
                  <a:pt x="6117" y="5364"/>
                  <a:pt x="6218" y="5323"/>
                  <a:pt x="6254" y="5235"/>
                </a:cubicBezTo>
                <a:lnTo>
                  <a:pt x="6434" y="4799"/>
                </a:lnTo>
                <a:cubicBezTo>
                  <a:pt x="6468" y="4708"/>
                  <a:pt x="6425" y="4608"/>
                  <a:pt x="6337" y="4571"/>
                </a:cubicBezTo>
                <a:close/>
                <a:moveTo>
                  <a:pt x="370" y="1975"/>
                </a:moveTo>
                <a:lnTo>
                  <a:pt x="145" y="1973"/>
                </a:lnTo>
                <a:cubicBezTo>
                  <a:pt x="65" y="1973"/>
                  <a:pt x="0" y="1908"/>
                  <a:pt x="0" y="1827"/>
                </a:cubicBezTo>
                <a:lnTo>
                  <a:pt x="1" y="1581"/>
                </a:lnTo>
                <a:cubicBezTo>
                  <a:pt x="1" y="1501"/>
                  <a:pt x="66" y="1436"/>
                  <a:pt x="148" y="1436"/>
                </a:cubicBezTo>
                <a:lnTo>
                  <a:pt x="373" y="1437"/>
                </a:lnTo>
                <a:cubicBezTo>
                  <a:pt x="408" y="1264"/>
                  <a:pt x="477" y="1097"/>
                  <a:pt x="580" y="947"/>
                </a:cubicBezTo>
                <a:lnTo>
                  <a:pt x="422" y="788"/>
                </a:lnTo>
                <a:cubicBezTo>
                  <a:pt x="366" y="731"/>
                  <a:pt x="366" y="639"/>
                  <a:pt x="424" y="583"/>
                </a:cubicBezTo>
                <a:lnTo>
                  <a:pt x="597" y="411"/>
                </a:lnTo>
                <a:cubicBezTo>
                  <a:pt x="654" y="355"/>
                  <a:pt x="746" y="355"/>
                  <a:pt x="802" y="412"/>
                </a:cubicBezTo>
                <a:lnTo>
                  <a:pt x="961" y="572"/>
                </a:lnTo>
                <a:cubicBezTo>
                  <a:pt x="1113" y="471"/>
                  <a:pt x="1281" y="404"/>
                  <a:pt x="1454" y="371"/>
                </a:cubicBezTo>
                <a:lnTo>
                  <a:pt x="1456" y="145"/>
                </a:lnTo>
                <a:cubicBezTo>
                  <a:pt x="1456" y="65"/>
                  <a:pt x="1521" y="0"/>
                  <a:pt x="1602" y="0"/>
                </a:cubicBezTo>
                <a:lnTo>
                  <a:pt x="1848" y="1"/>
                </a:lnTo>
                <a:cubicBezTo>
                  <a:pt x="1928" y="1"/>
                  <a:pt x="1993" y="67"/>
                  <a:pt x="1993" y="148"/>
                </a:cubicBezTo>
                <a:lnTo>
                  <a:pt x="1992" y="373"/>
                </a:lnTo>
                <a:cubicBezTo>
                  <a:pt x="2165" y="408"/>
                  <a:pt x="2332" y="477"/>
                  <a:pt x="2482" y="580"/>
                </a:cubicBezTo>
                <a:lnTo>
                  <a:pt x="2642" y="421"/>
                </a:lnTo>
                <a:cubicBezTo>
                  <a:pt x="2700" y="365"/>
                  <a:pt x="2792" y="365"/>
                  <a:pt x="2848" y="423"/>
                </a:cubicBezTo>
                <a:lnTo>
                  <a:pt x="3020" y="596"/>
                </a:lnTo>
                <a:cubicBezTo>
                  <a:pt x="3076" y="653"/>
                  <a:pt x="3076" y="745"/>
                  <a:pt x="3018" y="801"/>
                </a:cubicBezTo>
                <a:lnTo>
                  <a:pt x="2858" y="960"/>
                </a:lnTo>
                <a:cubicBezTo>
                  <a:pt x="2960" y="1112"/>
                  <a:pt x="3026" y="1280"/>
                  <a:pt x="3060" y="1453"/>
                </a:cubicBezTo>
                <a:lnTo>
                  <a:pt x="3285" y="1455"/>
                </a:lnTo>
                <a:cubicBezTo>
                  <a:pt x="3365" y="1455"/>
                  <a:pt x="3430" y="1520"/>
                  <a:pt x="3430" y="1601"/>
                </a:cubicBezTo>
                <a:lnTo>
                  <a:pt x="3429" y="1847"/>
                </a:lnTo>
                <a:cubicBezTo>
                  <a:pt x="3429" y="1927"/>
                  <a:pt x="3364" y="1992"/>
                  <a:pt x="3282" y="1992"/>
                </a:cubicBezTo>
                <a:lnTo>
                  <a:pt x="3057" y="1991"/>
                </a:lnTo>
                <a:cubicBezTo>
                  <a:pt x="3022" y="2164"/>
                  <a:pt x="2953" y="2331"/>
                  <a:pt x="2850" y="2481"/>
                </a:cubicBezTo>
                <a:lnTo>
                  <a:pt x="3009" y="2641"/>
                </a:lnTo>
                <a:cubicBezTo>
                  <a:pt x="3065" y="2699"/>
                  <a:pt x="3065" y="2791"/>
                  <a:pt x="3008" y="2847"/>
                </a:cubicBezTo>
                <a:lnTo>
                  <a:pt x="2834" y="3019"/>
                </a:lnTo>
                <a:cubicBezTo>
                  <a:pt x="2777" y="3075"/>
                  <a:pt x="2685" y="3075"/>
                  <a:pt x="2629" y="3017"/>
                </a:cubicBezTo>
                <a:lnTo>
                  <a:pt x="2470" y="2857"/>
                </a:lnTo>
                <a:cubicBezTo>
                  <a:pt x="2318" y="2959"/>
                  <a:pt x="2150" y="3025"/>
                  <a:pt x="1977" y="3059"/>
                </a:cubicBezTo>
                <a:lnTo>
                  <a:pt x="1976" y="3284"/>
                </a:lnTo>
                <a:cubicBezTo>
                  <a:pt x="1976" y="3364"/>
                  <a:pt x="1910" y="3429"/>
                  <a:pt x="1829" y="3429"/>
                </a:cubicBezTo>
                <a:lnTo>
                  <a:pt x="1584" y="3428"/>
                </a:lnTo>
                <a:cubicBezTo>
                  <a:pt x="1504" y="3428"/>
                  <a:pt x="1438" y="3363"/>
                  <a:pt x="1438" y="3281"/>
                </a:cubicBezTo>
                <a:lnTo>
                  <a:pt x="1440" y="3056"/>
                </a:lnTo>
                <a:cubicBezTo>
                  <a:pt x="1266" y="3021"/>
                  <a:pt x="1100" y="2952"/>
                  <a:pt x="949" y="2849"/>
                </a:cubicBezTo>
                <a:lnTo>
                  <a:pt x="789" y="3008"/>
                </a:lnTo>
                <a:cubicBezTo>
                  <a:pt x="732" y="3064"/>
                  <a:pt x="640" y="3064"/>
                  <a:pt x="584" y="3007"/>
                </a:cubicBezTo>
                <a:lnTo>
                  <a:pt x="412" y="2833"/>
                </a:lnTo>
                <a:cubicBezTo>
                  <a:pt x="356" y="2776"/>
                  <a:pt x="356" y="2684"/>
                  <a:pt x="413" y="2628"/>
                </a:cubicBezTo>
                <a:lnTo>
                  <a:pt x="573" y="2469"/>
                </a:lnTo>
                <a:cubicBezTo>
                  <a:pt x="470" y="2316"/>
                  <a:pt x="404" y="2148"/>
                  <a:pt x="370" y="1975"/>
                </a:cubicBezTo>
                <a:close/>
                <a:moveTo>
                  <a:pt x="1252" y="2172"/>
                </a:moveTo>
                <a:cubicBezTo>
                  <a:pt x="1505" y="2428"/>
                  <a:pt x="1917" y="2431"/>
                  <a:pt x="2173" y="2177"/>
                </a:cubicBezTo>
                <a:cubicBezTo>
                  <a:pt x="2429" y="1924"/>
                  <a:pt x="2432" y="1512"/>
                  <a:pt x="2178" y="1256"/>
                </a:cubicBezTo>
                <a:cubicBezTo>
                  <a:pt x="1925" y="1000"/>
                  <a:pt x="1513" y="997"/>
                  <a:pt x="1257" y="1251"/>
                </a:cubicBezTo>
                <a:cubicBezTo>
                  <a:pt x="1000" y="1504"/>
                  <a:pt x="998" y="1916"/>
                  <a:pt x="1252" y="2172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标题 3"/>
          <p:cNvSpPr>
            <a:spLocks noGrp="1"/>
          </p:cNvSpPr>
          <p:nvPr>
            <p:ph type="title"/>
          </p:nvPr>
        </p:nvSpPr>
        <p:spPr>
          <a:xfrm>
            <a:off x="482600" y="130175"/>
            <a:ext cx="11214100" cy="621665"/>
          </a:xfrm>
        </p:spPr>
        <p:txBody>
          <a:bodyPr wrap="square">
            <a:normAutofit fontScale="90000"/>
          </a:bodyPr>
          <a:lstStyle/>
          <a:p>
            <a:r>
              <a:rPr sz="2400" b="1"/>
              <a:t>目  录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灯片编号占位符 28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b="1" smtClean="0">
                <a:solidFill>
                  <a:schemeClr val="bg1"/>
                </a:solidFill>
              </a:rPr>
            </a:fld>
            <a:endParaRPr lang="zh-CN" altLang="en-US" b="1">
              <a:solidFill>
                <a:schemeClr val="bg1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732315" y="1512352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1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6452793" y="2097123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6999113" y="1497515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研究进度概况</a:t>
            </a:r>
            <a:endParaRPr lang="en-US" altLang="zh-CN" sz="3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6732315" y="2437023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2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6452793" y="3021794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6999113" y="2395459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已完成的研究工作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732315" y="3361694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3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17" name="直接连接符 16"/>
          <p:cNvCxnSpPr/>
          <p:nvPr/>
        </p:nvCxnSpPr>
        <p:spPr>
          <a:xfrm>
            <a:off x="6452793" y="3946465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6999113" y="3320130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后期工作计划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732315" y="4286365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4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452793" y="4871136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6999113" y="4244801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存在的问题与困难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732315" y="5211035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5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6452793" y="5795806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6999113" y="5169471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论文完成可行性分析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gwheels_376015"/>
          <p:cNvSpPr/>
          <p:nvPr/>
        </p:nvSpPr>
        <p:spPr>
          <a:xfrm>
            <a:off x="968833" y="1415499"/>
            <a:ext cx="4224055" cy="4280147"/>
          </a:xfrm>
          <a:custGeom>
            <a:avLst/>
            <a:gdLst>
              <a:gd name="T0" fmla="*/ 3621 w 6468"/>
              <a:gd name="T1" fmla="*/ 3299 h 6564"/>
              <a:gd name="T2" fmla="*/ 4214 w 6468"/>
              <a:gd name="T3" fmla="*/ 4727 h 6564"/>
              <a:gd name="T4" fmla="*/ 6337 w 6468"/>
              <a:gd name="T5" fmla="*/ 4571 h 6564"/>
              <a:gd name="T6" fmla="*/ 5974 w 6468"/>
              <a:gd name="T7" fmla="*/ 3603 h 6564"/>
              <a:gd name="T8" fmla="*/ 6429 w 6468"/>
              <a:gd name="T9" fmla="*/ 3225 h 6564"/>
              <a:gd name="T10" fmla="*/ 6022 w 6468"/>
              <a:gd name="T11" fmla="*/ 2697 h 6564"/>
              <a:gd name="T12" fmla="*/ 5080 w 6468"/>
              <a:gd name="T13" fmla="*/ 2269 h 6564"/>
              <a:gd name="T14" fmla="*/ 5136 w 6468"/>
              <a:gd name="T15" fmla="*/ 1681 h 6564"/>
              <a:gd name="T16" fmla="*/ 4477 w 6468"/>
              <a:gd name="T17" fmla="*/ 1593 h 6564"/>
              <a:gd name="T18" fmla="*/ 3837 w 6468"/>
              <a:gd name="T19" fmla="*/ 1917 h 6564"/>
              <a:gd name="T20" fmla="*/ 3357 w 6468"/>
              <a:gd name="T21" fmla="*/ 2412 h 6564"/>
              <a:gd name="T22" fmla="*/ 3445 w 6468"/>
              <a:gd name="T23" fmla="*/ 2889 h 6564"/>
              <a:gd name="T24" fmla="*/ 5048 w 6468"/>
              <a:gd name="T25" fmla="*/ 3547 h 6564"/>
              <a:gd name="T26" fmla="*/ 2792 w 6468"/>
              <a:gd name="T27" fmla="*/ 4483 h 6564"/>
              <a:gd name="T28" fmla="*/ 2397 w 6468"/>
              <a:gd name="T29" fmla="*/ 3364 h 6564"/>
              <a:gd name="T30" fmla="*/ 1830 w 6468"/>
              <a:gd name="T31" fmla="*/ 3843 h 6564"/>
              <a:gd name="T32" fmla="*/ 1502 w 6468"/>
              <a:gd name="T33" fmla="*/ 4577 h 6564"/>
              <a:gd name="T34" fmla="*/ 1589 w 6468"/>
              <a:gd name="T35" fmla="*/ 5239 h 6564"/>
              <a:gd name="T36" fmla="*/ 2178 w 6468"/>
              <a:gd name="T37" fmla="*/ 5181 h 6564"/>
              <a:gd name="T38" fmla="*/ 2609 w 6468"/>
              <a:gd name="T39" fmla="*/ 6123 h 6564"/>
              <a:gd name="T40" fmla="*/ 3138 w 6468"/>
              <a:gd name="T41" fmla="*/ 6528 h 6564"/>
              <a:gd name="T42" fmla="*/ 3513 w 6468"/>
              <a:gd name="T43" fmla="*/ 6072 h 6564"/>
              <a:gd name="T44" fmla="*/ 4484 w 6468"/>
              <a:gd name="T45" fmla="*/ 6433 h 6564"/>
              <a:gd name="T46" fmla="*/ 5145 w 6468"/>
              <a:gd name="T47" fmla="*/ 6347 h 6564"/>
              <a:gd name="T48" fmla="*/ 5088 w 6468"/>
              <a:gd name="T49" fmla="*/ 5759 h 6564"/>
              <a:gd name="T50" fmla="*/ 6029 w 6468"/>
              <a:gd name="T51" fmla="*/ 5328 h 6564"/>
              <a:gd name="T52" fmla="*/ 6434 w 6468"/>
              <a:gd name="T53" fmla="*/ 4799 h 6564"/>
              <a:gd name="T54" fmla="*/ 370 w 6468"/>
              <a:gd name="T55" fmla="*/ 1975 h 6564"/>
              <a:gd name="T56" fmla="*/ 0 w 6468"/>
              <a:gd name="T57" fmla="*/ 1827 h 6564"/>
              <a:gd name="T58" fmla="*/ 148 w 6468"/>
              <a:gd name="T59" fmla="*/ 1436 h 6564"/>
              <a:gd name="T60" fmla="*/ 580 w 6468"/>
              <a:gd name="T61" fmla="*/ 947 h 6564"/>
              <a:gd name="T62" fmla="*/ 424 w 6468"/>
              <a:gd name="T63" fmla="*/ 583 h 6564"/>
              <a:gd name="T64" fmla="*/ 802 w 6468"/>
              <a:gd name="T65" fmla="*/ 412 h 6564"/>
              <a:gd name="T66" fmla="*/ 1454 w 6468"/>
              <a:gd name="T67" fmla="*/ 371 h 6564"/>
              <a:gd name="T68" fmla="*/ 1602 w 6468"/>
              <a:gd name="T69" fmla="*/ 0 h 6564"/>
              <a:gd name="T70" fmla="*/ 1993 w 6468"/>
              <a:gd name="T71" fmla="*/ 148 h 6564"/>
              <a:gd name="T72" fmla="*/ 2482 w 6468"/>
              <a:gd name="T73" fmla="*/ 580 h 6564"/>
              <a:gd name="T74" fmla="*/ 2848 w 6468"/>
              <a:gd name="T75" fmla="*/ 423 h 6564"/>
              <a:gd name="T76" fmla="*/ 3018 w 6468"/>
              <a:gd name="T77" fmla="*/ 801 h 6564"/>
              <a:gd name="T78" fmla="*/ 3060 w 6468"/>
              <a:gd name="T79" fmla="*/ 1453 h 6564"/>
              <a:gd name="T80" fmla="*/ 3430 w 6468"/>
              <a:gd name="T81" fmla="*/ 1601 h 6564"/>
              <a:gd name="T82" fmla="*/ 3282 w 6468"/>
              <a:gd name="T83" fmla="*/ 1992 h 6564"/>
              <a:gd name="T84" fmla="*/ 2850 w 6468"/>
              <a:gd name="T85" fmla="*/ 2481 h 6564"/>
              <a:gd name="T86" fmla="*/ 3008 w 6468"/>
              <a:gd name="T87" fmla="*/ 2847 h 6564"/>
              <a:gd name="T88" fmla="*/ 2629 w 6468"/>
              <a:gd name="T89" fmla="*/ 3017 h 6564"/>
              <a:gd name="T90" fmla="*/ 1977 w 6468"/>
              <a:gd name="T91" fmla="*/ 3059 h 6564"/>
              <a:gd name="T92" fmla="*/ 1829 w 6468"/>
              <a:gd name="T93" fmla="*/ 3429 h 6564"/>
              <a:gd name="T94" fmla="*/ 1438 w 6468"/>
              <a:gd name="T95" fmla="*/ 3281 h 6564"/>
              <a:gd name="T96" fmla="*/ 949 w 6468"/>
              <a:gd name="T97" fmla="*/ 2849 h 6564"/>
              <a:gd name="T98" fmla="*/ 584 w 6468"/>
              <a:gd name="T99" fmla="*/ 3007 h 6564"/>
              <a:gd name="T100" fmla="*/ 413 w 6468"/>
              <a:gd name="T101" fmla="*/ 2628 h 6564"/>
              <a:gd name="T102" fmla="*/ 370 w 6468"/>
              <a:gd name="T103" fmla="*/ 1975 h 6564"/>
              <a:gd name="T104" fmla="*/ 2173 w 6468"/>
              <a:gd name="T105" fmla="*/ 2177 h 6564"/>
              <a:gd name="T106" fmla="*/ 1257 w 6468"/>
              <a:gd name="T107" fmla="*/ 1251 h 65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6468" h="6564">
                <a:moveTo>
                  <a:pt x="3204" y="4309"/>
                </a:moveTo>
                <a:cubicBezTo>
                  <a:pt x="3040" y="3916"/>
                  <a:pt x="3228" y="3463"/>
                  <a:pt x="3621" y="3299"/>
                </a:cubicBezTo>
                <a:cubicBezTo>
                  <a:pt x="4014" y="3135"/>
                  <a:pt x="4468" y="3323"/>
                  <a:pt x="4632" y="3716"/>
                </a:cubicBezTo>
                <a:cubicBezTo>
                  <a:pt x="4796" y="4109"/>
                  <a:pt x="4608" y="4563"/>
                  <a:pt x="4214" y="4727"/>
                </a:cubicBezTo>
                <a:cubicBezTo>
                  <a:pt x="3821" y="4891"/>
                  <a:pt x="3368" y="4703"/>
                  <a:pt x="3204" y="4309"/>
                </a:cubicBezTo>
                <a:close/>
                <a:moveTo>
                  <a:pt x="6337" y="4571"/>
                </a:moveTo>
                <a:lnTo>
                  <a:pt x="5974" y="4421"/>
                </a:lnTo>
                <a:cubicBezTo>
                  <a:pt x="6028" y="4156"/>
                  <a:pt x="6029" y="3877"/>
                  <a:pt x="5974" y="3603"/>
                </a:cubicBezTo>
                <a:lnTo>
                  <a:pt x="6336" y="3452"/>
                </a:lnTo>
                <a:cubicBezTo>
                  <a:pt x="6424" y="3416"/>
                  <a:pt x="6466" y="3315"/>
                  <a:pt x="6429" y="3225"/>
                </a:cubicBezTo>
                <a:lnTo>
                  <a:pt x="6249" y="2791"/>
                </a:lnTo>
                <a:cubicBezTo>
                  <a:pt x="6213" y="2703"/>
                  <a:pt x="6112" y="2660"/>
                  <a:pt x="6022" y="2697"/>
                </a:cubicBezTo>
                <a:lnTo>
                  <a:pt x="5660" y="2848"/>
                </a:lnTo>
                <a:cubicBezTo>
                  <a:pt x="5504" y="2615"/>
                  <a:pt x="5305" y="2419"/>
                  <a:pt x="5080" y="2269"/>
                </a:cubicBezTo>
                <a:lnTo>
                  <a:pt x="5229" y="1907"/>
                </a:lnTo>
                <a:cubicBezTo>
                  <a:pt x="5265" y="1819"/>
                  <a:pt x="5224" y="1717"/>
                  <a:pt x="5136" y="1681"/>
                </a:cubicBezTo>
                <a:lnTo>
                  <a:pt x="4702" y="1500"/>
                </a:lnTo>
                <a:cubicBezTo>
                  <a:pt x="4614" y="1464"/>
                  <a:pt x="4513" y="1505"/>
                  <a:pt x="4477" y="1593"/>
                </a:cubicBezTo>
                <a:lnTo>
                  <a:pt x="4328" y="1956"/>
                </a:lnTo>
                <a:cubicBezTo>
                  <a:pt x="4168" y="1924"/>
                  <a:pt x="4002" y="1911"/>
                  <a:pt x="3837" y="1917"/>
                </a:cubicBezTo>
                <a:cubicBezTo>
                  <a:pt x="3804" y="2165"/>
                  <a:pt x="3609" y="2361"/>
                  <a:pt x="3364" y="2397"/>
                </a:cubicBezTo>
                <a:cubicBezTo>
                  <a:pt x="3361" y="2403"/>
                  <a:pt x="3360" y="2407"/>
                  <a:pt x="3357" y="2412"/>
                </a:cubicBezTo>
                <a:cubicBezTo>
                  <a:pt x="3426" y="2507"/>
                  <a:pt x="3465" y="2621"/>
                  <a:pt x="3465" y="2743"/>
                </a:cubicBezTo>
                <a:cubicBezTo>
                  <a:pt x="3465" y="2793"/>
                  <a:pt x="3458" y="2841"/>
                  <a:pt x="3445" y="2889"/>
                </a:cubicBezTo>
                <a:cubicBezTo>
                  <a:pt x="3448" y="2888"/>
                  <a:pt x="3449" y="2887"/>
                  <a:pt x="3452" y="2887"/>
                </a:cubicBezTo>
                <a:cubicBezTo>
                  <a:pt x="4073" y="2628"/>
                  <a:pt x="4789" y="2924"/>
                  <a:pt x="5048" y="3547"/>
                </a:cubicBezTo>
                <a:cubicBezTo>
                  <a:pt x="5306" y="4168"/>
                  <a:pt x="5010" y="4884"/>
                  <a:pt x="4388" y="5143"/>
                </a:cubicBezTo>
                <a:cubicBezTo>
                  <a:pt x="3766" y="5401"/>
                  <a:pt x="3050" y="5105"/>
                  <a:pt x="2792" y="4483"/>
                </a:cubicBezTo>
                <a:cubicBezTo>
                  <a:pt x="2650" y="4140"/>
                  <a:pt x="2676" y="3771"/>
                  <a:pt x="2832" y="3464"/>
                </a:cubicBezTo>
                <a:cubicBezTo>
                  <a:pt x="2682" y="3491"/>
                  <a:pt x="2524" y="3459"/>
                  <a:pt x="2397" y="3364"/>
                </a:cubicBezTo>
                <a:cubicBezTo>
                  <a:pt x="2392" y="3367"/>
                  <a:pt x="2388" y="3368"/>
                  <a:pt x="2382" y="3369"/>
                </a:cubicBezTo>
                <a:cubicBezTo>
                  <a:pt x="2341" y="3637"/>
                  <a:pt x="2109" y="3843"/>
                  <a:pt x="1830" y="3843"/>
                </a:cubicBezTo>
                <a:cubicBezTo>
                  <a:pt x="1814" y="4035"/>
                  <a:pt x="1824" y="4231"/>
                  <a:pt x="1864" y="4427"/>
                </a:cubicBezTo>
                <a:lnTo>
                  <a:pt x="1502" y="4577"/>
                </a:lnTo>
                <a:cubicBezTo>
                  <a:pt x="1414" y="4613"/>
                  <a:pt x="1372" y="4715"/>
                  <a:pt x="1409" y="4804"/>
                </a:cubicBezTo>
                <a:lnTo>
                  <a:pt x="1589" y="5239"/>
                </a:lnTo>
                <a:cubicBezTo>
                  <a:pt x="1625" y="5327"/>
                  <a:pt x="1726" y="5369"/>
                  <a:pt x="1816" y="5332"/>
                </a:cubicBezTo>
                <a:lnTo>
                  <a:pt x="2178" y="5181"/>
                </a:lnTo>
                <a:cubicBezTo>
                  <a:pt x="2334" y="5415"/>
                  <a:pt x="2533" y="5611"/>
                  <a:pt x="2758" y="5760"/>
                </a:cubicBezTo>
                <a:lnTo>
                  <a:pt x="2609" y="6123"/>
                </a:lnTo>
                <a:cubicBezTo>
                  <a:pt x="2573" y="6211"/>
                  <a:pt x="2614" y="6312"/>
                  <a:pt x="2702" y="6348"/>
                </a:cubicBezTo>
                <a:lnTo>
                  <a:pt x="3138" y="6528"/>
                </a:lnTo>
                <a:cubicBezTo>
                  <a:pt x="3226" y="6564"/>
                  <a:pt x="3328" y="6523"/>
                  <a:pt x="3364" y="6435"/>
                </a:cubicBezTo>
                <a:lnTo>
                  <a:pt x="3513" y="6072"/>
                </a:lnTo>
                <a:cubicBezTo>
                  <a:pt x="3778" y="6125"/>
                  <a:pt x="4057" y="6127"/>
                  <a:pt x="4333" y="6072"/>
                </a:cubicBezTo>
                <a:lnTo>
                  <a:pt x="4484" y="6433"/>
                </a:lnTo>
                <a:cubicBezTo>
                  <a:pt x="4520" y="6521"/>
                  <a:pt x="4621" y="6564"/>
                  <a:pt x="4710" y="6527"/>
                </a:cubicBezTo>
                <a:lnTo>
                  <a:pt x="5145" y="6347"/>
                </a:lnTo>
                <a:cubicBezTo>
                  <a:pt x="5233" y="6311"/>
                  <a:pt x="5276" y="6209"/>
                  <a:pt x="5238" y="6120"/>
                </a:cubicBezTo>
                <a:lnTo>
                  <a:pt x="5088" y="5759"/>
                </a:lnTo>
                <a:cubicBezTo>
                  <a:pt x="5321" y="5603"/>
                  <a:pt x="5517" y="5404"/>
                  <a:pt x="5666" y="5179"/>
                </a:cubicBezTo>
                <a:lnTo>
                  <a:pt x="6029" y="5328"/>
                </a:lnTo>
                <a:cubicBezTo>
                  <a:pt x="6117" y="5364"/>
                  <a:pt x="6218" y="5323"/>
                  <a:pt x="6254" y="5235"/>
                </a:cubicBezTo>
                <a:lnTo>
                  <a:pt x="6434" y="4799"/>
                </a:lnTo>
                <a:cubicBezTo>
                  <a:pt x="6468" y="4708"/>
                  <a:pt x="6425" y="4608"/>
                  <a:pt x="6337" y="4571"/>
                </a:cubicBezTo>
                <a:close/>
                <a:moveTo>
                  <a:pt x="370" y="1975"/>
                </a:moveTo>
                <a:lnTo>
                  <a:pt x="145" y="1973"/>
                </a:lnTo>
                <a:cubicBezTo>
                  <a:pt x="65" y="1973"/>
                  <a:pt x="0" y="1908"/>
                  <a:pt x="0" y="1827"/>
                </a:cubicBezTo>
                <a:lnTo>
                  <a:pt x="1" y="1581"/>
                </a:lnTo>
                <a:cubicBezTo>
                  <a:pt x="1" y="1501"/>
                  <a:pt x="66" y="1436"/>
                  <a:pt x="148" y="1436"/>
                </a:cubicBezTo>
                <a:lnTo>
                  <a:pt x="373" y="1437"/>
                </a:lnTo>
                <a:cubicBezTo>
                  <a:pt x="408" y="1264"/>
                  <a:pt x="477" y="1097"/>
                  <a:pt x="580" y="947"/>
                </a:cubicBezTo>
                <a:lnTo>
                  <a:pt x="422" y="788"/>
                </a:lnTo>
                <a:cubicBezTo>
                  <a:pt x="366" y="731"/>
                  <a:pt x="366" y="639"/>
                  <a:pt x="424" y="583"/>
                </a:cubicBezTo>
                <a:lnTo>
                  <a:pt x="597" y="411"/>
                </a:lnTo>
                <a:cubicBezTo>
                  <a:pt x="654" y="355"/>
                  <a:pt x="746" y="355"/>
                  <a:pt x="802" y="412"/>
                </a:cubicBezTo>
                <a:lnTo>
                  <a:pt x="961" y="572"/>
                </a:lnTo>
                <a:cubicBezTo>
                  <a:pt x="1113" y="471"/>
                  <a:pt x="1281" y="404"/>
                  <a:pt x="1454" y="371"/>
                </a:cubicBezTo>
                <a:lnTo>
                  <a:pt x="1456" y="145"/>
                </a:lnTo>
                <a:cubicBezTo>
                  <a:pt x="1456" y="65"/>
                  <a:pt x="1521" y="0"/>
                  <a:pt x="1602" y="0"/>
                </a:cubicBezTo>
                <a:lnTo>
                  <a:pt x="1848" y="1"/>
                </a:lnTo>
                <a:cubicBezTo>
                  <a:pt x="1928" y="1"/>
                  <a:pt x="1993" y="67"/>
                  <a:pt x="1993" y="148"/>
                </a:cubicBezTo>
                <a:lnTo>
                  <a:pt x="1992" y="373"/>
                </a:lnTo>
                <a:cubicBezTo>
                  <a:pt x="2165" y="408"/>
                  <a:pt x="2332" y="477"/>
                  <a:pt x="2482" y="580"/>
                </a:cubicBezTo>
                <a:lnTo>
                  <a:pt x="2642" y="421"/>
                </a:lnTo>
                <a:cubicBezTo>
                  <a:pt x="2700" y="365"/>
                  <a:pt x="2792" y="365"/>
                  <a:pt x="2848" y="423"/>
                </a:cubicBezTo>
                <a:lnTo>
                  <a:pt x="3020" y="596"/>
                </a:lnTo>
                <a:cubicBezTo>
                  <a:pt x="3076" y="653"/>
                  <a:pt x="3076" y="745"/>
                  <a:pt x="3018" y="801"/>
                </a:cubicBezTo>
                <a:lnTo>
                  <a:pt x="2858" y="960"/>
                </a:lnTo>
                <a:cubicBezTo>
                  <a:pt x="2960" y="1112"/>
                  <a:pt x="3026" y="1280"/>
                  <a:pt x="3060" y="1453"/>
                </a:cubicBezTo>
                <a:lnTo>
                  <a:pt x="3285" y="1455"/>
                </a:lnTo>
                <a:cubicBezTo>
                  <a:pt x="3365" y="1455"/>
                  <a:pt x="3430" y="1520"/>
                  <a:pt x="3430" y="1601"/>
                </a:cubicBezTo>
                <a:lnTo>
                  <a:pt x="3429" y="1847"/>
                </a:lnTo>
                <a:cubicBezTo>
                  <a:pt x="3429" y="1927"/>
                  <a:pt x="3364" y="1992"/>
                  <a:pt x="3282" y="1992"/>
                </a:cubicBezTo>
                <a:lnTo>
                  <a:pt x="3057" y="1991"/>
                </a:lnTo>
                <a:cubicBezTo>
                  <a:pt x="3022" y="2164"/>
                  <a:pt x="2953" y="2331"/>
                  <a:pt x="2850" y="2481"/>
                </a:cubicBezTo>
                <a:lnTo>
                  <a:pt x="3009" y="2641"/>
                </a:lnTo>
                <a:cubicBezTo>
                  <a:pt x="3065" y="2699"/>
                  <a:pt x="3065" y="2791"/>
                  <a:pt x="3008" y="2847"/>
                </a:cubicBezTo>
                <a:lnTo>
                  <a:pt x="2834" y="3019"/>
                </a:lnTo>
                <a:cubicBezTo>
                  <a:pt x="2777" y="3075"/>
                  <a:pt x="2685" y="3075"/>
                  <a:pt x="2629" y="3017"/>
                </a:cubicBezTo>
                <a:lnTo>
                  <a:pt x="2470" y="2857"/>
                </a:lnTo>
                <a:cubicBezTo>
                  <a:pt x="2318" y="2959"/>
                  <a:pt x="2150" y="3025"/>
                  <a:pt x="1977" y="3059"/>
                </a:cubicBezTo>
                <a:lnTo>
                  <a:pt x="1976" y="3284"/>
                </a:lnTo>
                <a:cubicBezTo>
                  <a:pt x="1976" y="3364"/>
                  <a:pt x="1910" y="3429"/>
                  <a:pt x="1829" y="3429"/>
                </a:cubicBezTo>
                <a:lnTo>
                  <a:pt x="1584" y="3428"/>
                </a:lnTo>
                <a:cubicBezTo>
                  <a:pt x="1504" y="3428"/>
                  <a:pt x="1438" y="3363"/>
                  <a:pt x="1438" y="3281"/>
                </a:cubicBezTo>
                <a:lnTo>
                  <a:pt x="1440" y="3056"/>
                </a:lnTo>
                <a:cubicBezTo>
                  <a:pt x="1266" y="3021"/>
                  <a:pt x="1100" y="2952"/>
                  <a:pt x="949" y="2849"/>
                </a:cubicBezTo>
                <a:lnTo>
                  <a:pt x="789" y="3008"/>
                </a:lnTo>
                <a:cubicBezTo>
                  <a:pt x="732" y="3064"/>
                  <a:pt x="640" y="3064"/>
                  <a:pt x="584" y="3007"/>
                </a:cubicBezTo>
                <a:lnTo>
                  <a:pt x="412" y="2833"/>
                </a:lnTo>
                <a:cubicBezTo>
                  <a:pt x="356" y="2776"/>
                  <a:pt x="356" y="2684"/>
                  <a:pt x="413" y="2628"/>
                </a:cubicBezTo>
                <a:lnTo>
                  <a:pt x="573" y="2469"/>
                </a:lnTo>
                <a:cubicBezTo>
                  <a:pt x="470" y="2316"/>
                  <a:pt x="404" y="2148"/>
                  <a:pt x="370" y="1975"/>
                </a:cubicBezTo>
                <a:close/>
                <a:moveTo>
                  <a:pt x="1252" y="2172"/>
                </a:moveTo>
                <a:cubicBezTo>
                  <a:pt x="1505" y="2428"/>
                  <a:pt x="1917" y="2431"/>
                  <a:pt x="2173" y="2177"/>
                </a:cubicBezTo>
                <a:cubicBezTo>
                  <a:pt x="2429" y="1924"/>
                  <a:pt x="2432" y="1512"/>
                  <a:pt x="2178" y="1256"/>
                </a:cubicBezTo>
                <a:cubicBezTo>
                  <a:pt x="1925" y="1000"/>
                  <a:pt x="1513" y="997"/>
                  <a:pt x="1257" y="1251"/>
                </a:cubicBezTo>
                <a:cubicBezTo>
                  <a:pt x="1000" y="1504"/>
                  <a:pt x="998" y="1916"/>
                  <a:pt x="1252" y="2172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标题 3"/>
          <p:cNvSpPr>
            <a:spLocks noGrp="1"/>
          </p:cNvSpPr>
          <p:nvPr>
            <p:ph type="title"/>
          </p:nvPr>
        </p:nvSpPr>
        <p:spPr>
          <a:xfrm>
            <a:off x="482600" y="130175"/>
            <a:ext cx="11214100" cy="621665"/>
          </a:xfrm>
        </p:spPr>
        <p:txBody>
          <a:bodyPr wrap="square">
            <a:normAutofit fontScale="90000"/>
          </a:bodyPr>
          <a:lstStyle/>
          <a:p>
            <a:r>
              <a:rPr sz="2400" b="1"/>
              <a:t>目  录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灯片编号占位符 28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b="1" smtClean="0">
                <a:solidFill>
                  <a:schemeClr val="bg1"/>
                </a:solidFill>
              </a:rPr>
            </a:fld>
            <a:endParaRPr lang="zh-CN" altLang="en-US" b="1">
              <a:solidFill>
                <a:schemeClr val="bg1"/>
              </a:solidFill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732315" y="1512352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1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11" name="直接连接符 10"/>
          <p:cNvCxnSpPr/>
          <p:nvPr/>
        </p:nvCxnSpPr>
        <p:spPr>
          <a:xfrm>
            <a:off x="6452793" y="2097123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6999113" y="1497515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研究进度概况</a:t>
            </a:r>
            <a:endParaRPr lang="en-US" altLang="zh-CN" sz="3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6732315" y="2437023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2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6452793" y="3021794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6999113" y="2395459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已完成的研究工作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732315" y="3361694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3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17" name="直接连接符 16"/>
          <p:cNvCxnSpPr/>
          <p:nvPr/>
        </p:nvCxnSpPr>
        <p:spPr>
          <a:xfrm>
            <a:off x="6452793" y="3946465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6999113" y="3320130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后期工作计划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732315" y="4286365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4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452793" y="4871136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6999113" y="4244801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存在的问题与困难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6732315" y="5211035"/>
            <a:ext cx="559044" cy="584775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Arial Black" panose="020B0A04020102020204" pitchFamily="34" charset="0"/>
              </a:rPr>
              <a:t>5</a:t>
            </a:r>
            <a:endParaRPr lang="zh-CN" altLang="en-US" sz="2400" dirty="0">
              <a:latin typeface="Arial Black" panose="020B0A04020102020204" pitchFamily="3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>
            <a:off x="6452793" y="5795806"/>
            <a:ext cx="4680000" cy="0"/>
          </a:xfrm>
          <a:prstGeom prst="line">
            <a:avLst/>
          </a:prstGeom>
          <a:ln w="19050">
            <a:solidFill>
              <a:srgbClr val="00537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>
            <a:off x="6999113" y="5169471"/>
            <a:ext cx="40616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1600" b="0"/>
              <a:t>论文完成可行性分析</a:t>
            </a:r>
            <a:endParaRPr lang="zh-CN" alt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一、研究进度概况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直角三角形 2"/>
          <p:cNvSpPr/>
          <p:nvPr/>
        </p:nvSpPr>
        <p:spPr>
          <a:xfrm>
            <a:off x="2087328" y="892613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圆角矩形 2"/>
          <p:cNvSpPr/>
          <p:nvPr/>
        </p:nvSpPr>
        <p:spPr>
          <a:xfrm>
            <a:off x="482600" y="1164449"/>
            <a:ext cx="11214100" cy="101092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5375"/>
                </a:solidFill>
              </a:rPr>
              <a:t>研究周期：2025年11月 – 2026年5月（共7个月，分六阶段推进）</a:t>
            </a:r>
            <a:endParaRPr kumimoji="1" lang="zh-CN" altLang="en-US"/>
          </a:p>
          <a:p>
            <a:r>
              <a:rPr sz="1100" b="0"/>
              <a:t/>
            </a:r>
          </a:p>
          <a:p>
            <a:r>
              <a:rPr sz="1200" b="0"/>
              <a:t>✓ 第一阶段（需求分析与系统设计，2025年11-12月）：已完成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完成功能需求梳理、前后端分离三层架构设计、数据库表设计与技术选型</a:t>
            </a:r>
          </a:p>
          <a:p>
            <a:r>
              <a:rPr sz="1200" b="0"/>
              <a:t>✓ 第二阶段（预处理模块开发，2025年12月）：已完成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完成tree-sitter代码切分、Qwen3-VL-Embedding集成、Qdrant向量数据库模块及数据处理流水线</a:t>
            </a:r>
          </a:p>
          <a:p>
            <a:r>
              <a:rPr sz="1200" b="0"/>
              <a:t>✓ 第三阶段（检索问答模块开发，2026年1月）：已完成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完成Top-k向量检索、结构化Prompt、多轮推理及WebSocket流式输出</a:t>
            </a:r>
          </a:p>
          <a:p>
            <a:r>
              <a:rPr sz="1200" b="0"/>
              <a:t>✓ 第四阶段（系统集成与前端开发，2026年2月）：已完成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完成FastAPI后端整合、JWT认证；Next.js/React前端全部页面联调</a:t>
            </a:r>
          </a:p>
          <a:p>
            <a:r>
              <a:rPr sz="1200" b="0">
                <a:solidFill>
                  <a:srgbClr val="C65911"/>
                </a:solidFill>
              </a:rPr>
              <a:t>▶ 第五阶段（实验评测与优化迭代，2026年3月）：正在进行</a:t>
            </a:r>
          </a:p>
          <a:p>
            <a:r>
              <a:rPr sz="1200" b="0">
                <a:solidFill>
                  <a:srgbClr val="808080"/>
                </a:solidFill>
              </a:rPr>
              <a:t>○ 第六阶段（论文撰写与答辩准备，2026年4-5月）：计划按期启动</a:t>
            </a:r>
          </a:p>
        </p:txBody>
      </p:sp>
      <p:sp>
        <p:nvSpPr>
          <p:cNvPr id="5" name="对角圆角矩形 80"/>
          <p:cNvSpPr/>
          <p:nvPr/>
        </p:nvSpPr>
        <p:spPr>
          <a:xfrm>
            <a:off x="730074" y="892613"/>
            <a:ext cx="1357217" cy="543672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400" b="1"/>
              <a:t>进度概况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一、研究进度概况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直角三角形 2"/>
          <p:cNvSpPr/>
          <p:nvPr/>
        </p:nvSpPr>
        <p:spPr>
          <a:xfrm>
            <a:off x="2087328" y="892613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圆角矩形 2"/>
          <p:cNvSpPr/>
          <p:nvPr/>
        </p:nvSpPr>
        <p:spPr>
          <a:xfrm>
            <a:off x="482600" y="1164449"/>
            <a:ext cx="11214100" cy="101092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5375"/>
                </a:solidFill>
              </a:rPr>
              <a:t>研究周期：2025年11月 – 2026年5月（共7个月，分六阶段推进）</a:t>
            </a:r>
            <a:endParaRPr kumimoji="1" lang="zh-CN" altLang="en-US"/>
          </a:p>
          <a:p>
            <a:r>
              <a:rPr sz="1100" b="0"/>
              <a:t/>
            </a:r>
          </a:p>
          <a:p>
            <a:r>
              <a:rPr sz="1200" b="0"/>
              <a:t>✓ 第一阶段（需求分析与系统设计，2025年11-12月）：已完成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完成功能需求梳理、前后端分离三层架构设计、数据库表设计与技术选型</a:t>
            </a:r>
          </a:p>
          <a:p>
            <a:r>
              <a:rPr sz="1200" b="0"/>
              <a:t>✓ 第二阶段（预处理模块开发，2025年12月）：已完成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完成tree-sitter代码切分、Qwen3-VL-Embedding集成、Qdrant向量数据库模块及数据处理流水线</a:t>
            </a:r>
          </a:p>
          <a:p>
            <a:r>
              <a:rPr sz="1200" b="0"/>
              <a:t>✓ 第三阶段（检索问答模块开发，2026年1月）：已完成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完成Top-k向量检索、结构化Prompt、多轮推理及WebSocket流式输出</a:t>
            </a:r>
          </a:p>
          <a:p>
            <a:r>
              <a:rPr sz="1200" b="0"/>
              <a:t>✓ 第四阶段（系统集成与前端开发，2026年2月）：已完成</a:t>
            </a:r>
          </a:p>
          <a:p>
            <a:r>
              <a:rPr sz="1100" b="0">
                <a:solidFill>
                  <a:srgbClr val="555555"/>
                </a:solidFill>
              </a:rPr>
              <a:t>   完成FastAPI后端整合、JWT认证；Next.js/React前端全部页面联调</a:t>
            </a:r>
          </a:p>
          <a:p>
            <a:r>
              <a:rPr sz="1200" b="0">
                <a:solidFill>
                  <a:srgbClr val="C65911"/>
                </a:solidFill>
              </a:rPr>
              <a:t>▶ 第五阶段（实验评测与优化迭代，2026年3月）：正在进行</a:t>
            </a:r>
          </a:p>
          <a:p>
            <a:r>
              <a:rPr sz="1200" b="0">
                <a:solidFill>
                  <a:srgbClr val="808080"/>
                </a:solidFill>
              </a:rPr>
              <a:t>○ 第六阶段（论文撰写与答辩准备，2026年4-5月）：计划按期启动</a:t>
            </a:r>
          </a:p>
        </p:txBody>
      </p:sp>
      <p:sp>
        <p:nvSpPr>
          <p:cNvPr id="5" name="对角圆角矩形 80"/>
          <p:cNvSpPr/>
          <p:nvPr/>
        </p:nvSpPr>
        <p:spPr>
          <a:xfrm>
            <a:off x="730074" y="892613"/>
            <a:ext cx="1357217" cy="543672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400" b="1"/>
              <a:t>进度概况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直角三角形 2"/>
          <p:cNvSpPr/>
          <p:nvPr/>
        </p:nvSpPr>
        <p:spPr>
          <a:xfrm>
            <a:off x="2646128" y="881324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圆角矩形 2"/>
          <p:cNvSpPr/>
          <p:nvPr/>
        </p:nvSpPr>
        <p:spPr>
          <a:xfrm>
            <a:off x="482599" y="1153160"/>
            <a:ext cx="11214099" cy="101092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5375"/>
                </a:solidFill>
              </a:rPr>
              <a:t>（一）系统整体架构（前后端分离三层架构）</a:t>
            </a:r>
            <a:endParaRPr kumimoji="1" lang="zh-CN" altLang="en-US"/>
          </a:p>
          <a:p>
            <a:r>
              <a:rPr sz="1200" b="0"/>
              <a:t>  前端层：Next.js / React — 注册/登录、工作台、问答界面、Wiki生成、模型配置、深色/浅色主题与中英双语</a:t>
            </a:r>
          </a:p>
          <a:p>
            <a:r>
              <a:rPr sz="1200" b="0"/>
              <a:t>  后端层：FastAPI — RESTful API + WebSocket流式输出，JWT认证，RAG引擎，代码解析与向量化流水线</a:t>
            </a:r>
          </a:p>
          <a:p>
            <a:r>
              <a:rPr sz="1200" b="0"/>
              <a:t>  数据层：MySQL（用户、配置、对话历史、消息表）+ Qdrant向量数据库（每仓库独立集合）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005375"/>
                </a:solidFill>
              </a:rPr>
              <a:t>（二）用户认证模块</a:t>
            </a:r>
          </a:p>
          <a:p>
            <a:r>
              <a:rPr sz="1200" b="0"/>
              <a:t>  • 实现完整的用户注册与登录功能（注册接口、登录接口）</a:t>
            </a:r>
          </a:p>
          <a:p>
            <a:r>
              <a:rPr sz="1200" b="0"/>
              <a:t>  • JWT令牌验证中间件，实现基于JWT的会话管理</a:t>
            </a:r>
          </a:p>
          <a:p>
            <a:r>
              <a:rPr sz="1200" b="0"/>
              <a:t>  • 前端完成注册/登录页面开发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005375"/>
                </a:solidFill>
              </a:rPr>
              <a:t>（三）数据库模型设计与实现</a:t>
            </a:r>
          </a:p>
          <a:p>
            <a:r>
              <a:rPr sz="1200" b="0"/>
              <a:t>  用户表、用户配置表（UI语言/AI模型偏好/主题）、对话历史表（绑定仓库）、消息表（提问与回答）</a:t>
            </a:r>
          </a:p>
        </p:txBody>
      </p:sp>
      <p:sp>
        <p:nvSpPr>
          <p:cNvPr id="5" name="对角圆角矩形 80"/>
          <p:cNvSpPr/>
          <p:nvPr/>
        </p:nvSpPr>
        <p:spPr>
          <a:xfrm>
            <a:off x="730070" y="881324"/>
            <a:ext cx="1916058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架构设计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p>
            <a:r>
              <a:rPr sz="1800" b="1"/>
              <a:t>二、已完成工作（1/3）— 系统架构与认证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直角三角形 2"/>
          <p:cNvSpPr/>
          <p:nvPr/>
        </p:nvSpPr>
        <p:spPr>
          <a:xfrm>
            <a:off x="2646128" y="881324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圆角矩形 2"/>
          <p:cNvSpPr/>
          <p:nvPr/>
        </p:nvSpPr>
        <p:spPr>
          <a:xfrm>
            <a:off x="482599" y="1153160"/>
            <a:ext cx="11214099" cy="101092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5375"/>
                </a:solidFill>
              </a:rPr>
              <a:t>（一）系统整体架构（前后端分离三层架构）</a:t>
            </a:r>
            <a:endParaRPr kumimoji="1" lang="zh-CN" altLang="en-US"/>
          </a:p>
          <a:p>
            <a:r>
              <a:rPr sz="1200" b="0"/>
              <a:t>  前端层：Next.js / React — 注册/登录、工作台、问答界面、Wiki生成、模型配置、深色/浅色主题与中英双语</a:t>
            </a:r>
          </a:p>
          <a:p>
            <a:r>
              <a:rPr sz="1200" b="0"/>
              <a:t>  后端层：FastAPI — RESTful API + WebSocket流式输出，JWT认证，RAG引擎，代码解析与向量化流水线</a:t>
            </a:r>
          </a:p>
          <a:p>
            <a:r>
              <a:rPr sz="1200" b="0"/>
              <a:t>  数据层：MySQL（用户、配置、对话历史、消息表）+ Qdrant向量数据库（每仓库独立集合）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005375"/>
                </a:solidFill>
              </a:rPr>
              <a:t>（二）用户认证模块</a:t>
            </a:r>
          </a:p>
          <a:p>
            <a:r>
              <a:rPr sz="1200" b="0"/>
              <a:t>  • 实现完整的用户注册与登录功能（注册接口、登录接口）</a:t>
            </a:r>
          </a:p>
          <a:p>
            <a:r>
              <a:rPr sz="1200" b="0"/>
              <a:t>  • JWT令牌验证中间件，实现基于JWT的会话管理</a:t>
            </a:r>
          </a:p>
          <a:p>
            <a:r>
              <a:rPr sz="1200" b="0"/>
              <a:t>  • 前端完成注册/登录页面开发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005375"/>
                </a:solidFill>
              </a:rPr>
              <a:t>（三）数据库模型设计与实现</a:t>
            </a:r>
          </a:p>
          <a:p>
            <a:r>
              <a:rPr sz="1200" b="0"/>
              <a:t>  用户表、用户配置表（UI语言/AI模型偏好/主题）、对话历史表（绑定仓库）、消息表（提问与回答）</a:t>
            </a:r>
          </a:p>
        </p:txBody>
      </p:sp>
      <p:sp>
        <p:nvSpPr>
          <p:cNvPr id="5" name="对角圆角矩形 80"/>
          <p:cNvSpPr/>
          <p:nvPr/>
        </p:nvSpPr>
        <p:spPr>
          <a:xfrm>
            <a:off x="730070" y="881324"/>
            <a:ext cx="1916058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架构设计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p>
            <a:r>
              <a:rPr sz="1800" b="1"/>
              <a:t>二、已完成工作（1/3）— 系统架构与认证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角三角形 7"/>
          <p:cNvSpPr/>
          <p:nvPr/>
        </p:nvSpPr>
        <p:spPr>
          <a:xfrm>
            <a:off x="4363834" y="1006057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直角三角形 8"/>
          <p:cNvSpPr/>
          <p:nvPr/>
        </p:nvSpPr>
        <p:spPr>
          <a:xfrm>
            <a:off x="10265724" y="993050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直角三角形 9"/>
          <p:cNvSpPr/>
          <p:nvPr/>
        </p:nvSpPr>
        <p:spPr>
          <a:xfrm>
            <a:off x="3548099" y="3732858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圆角矩形 2"/>
          <p:cNvSpPr/>
          <p:nvPr/>
        </p:nvSpPr>
        <p:spPr>
          <a:xfrm>
            <a:off x="48260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基于tree-sitter的函数级代码切分</a:t>
            </a:r>
            <a:endParaRPr kumimoji="1" lang="zh-CN" altLang="en-US"/>
          </a:p>
          <a:p>
            <a:r>
              <a:rPr sz="1100" b="0"/>
              <a:t>• 构建AST，精确提取函数名、类名、起止行号等完整元数据</a:t>
            </a:r>
          </a:p>
          <a:p>
            <a:r>
              <a:rPr sz="1100" b="0"/>
              <a:t>• 支持15种主流语言：Python、TypeScript、JavaScript、Java、Go、Rust、C/C++、C#、PHP、Swift等</a:t>
            </a:r>
          </a:p>
          <a:p>
            <a:r>
              <a:rPr sz="1100" b="0"/>
              <a:t>• 有效避免固定窗口切分导致的语义断裂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数据处理流水线</a:t>
            </a:r>
          </a:p>
          <a:p>
            <a:r>
              <a:rPr sz="1100" b="0"/>
              <a:t>• git clone自动拉取远程仓库，支持私有仓库令牌认证</a:t>
            </a:r>
          </a:p>
          <a:p>
            <a:r>
              <a:rPr sz="1100" b="0"/>
              <a:t>• 自动过滤二进制文件、编译产物、第三方依赖</a:t>
            </a:r>
          </a:p>
          <a:p>
            <a:r>
              <a:rPr sz="1100" b="0"/>
              <a:t>• 异常捕获与跳过机制，不影响其他文件处理</a:t>
            </a:r>
          </a:p>
        </p:txBody>
      </p:sp>
      <p:sp>
        <p:nvSpPr>
          <p:cNvPr id="12" name="圆角矩形 2"/>
          <p:cNvSpPr/>
          <p:nvPr/>
        </p:nvSpPr>
        <p:spPr>
          <a:xfrm>
            <a:off x="638449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Qwen3-VL-Embedding嵌入与Qdrant知识库</a:t>
            </a:r>
            <a:endParaRPr kumimoji="1" lang="zh-CN" altLang="en-US"/>
          </a:p>
          <a:p>
            <a:r>
              <a:rPr sz="1100" b="0"/>
              <a:t>• 集成阿里云Qwen3-VL-Embedding API，将函数级片段向量化</a:t>
            </a:r>
          </a:p>
          <a:p>
            <a:r>
              <a:rPr sz="1100" b="0"/>
              <a:t>• 每个仓库对应独立Qdrant集合，实现多仓库数据隔离</a:t>
            </a:r>
          </a:p>
          <a:p>
            <a:r>
              <a:rPr sz="1100" b="0"/>
              <a:t>• 向量写入携带完整元数据（文件路径、函数名、语言类型、行号）</a:t>
            </a:r>
          </a:p>
          <a:p>
            <a:r>
              <a:rPr sz="1100" b="0"/>
              <a:t>• 支持基于元数据的过滤检索</a:t>
            </a:r>
          </a:p>
        </p:txBody>
      </p:sp>
      <p:sp>
        <p:nvSpPr>
          <p:cNvPr id="13" name="对角圆角矩形 80"/>
          <p:cNvSpPr/>
          <p:nvPr/>
        </p:nvSpPr>
        <p:spPr>
          <a:xfrm>
            <a:off x="765742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代码解析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对角圆角矩形 80"/>
          <p:cNvSpPr/>
          <p:nvPr/>
        </p:nvSpPr>
        <p:spPr>
          <a:xfrm>
            <a:off x="175553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向量化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1800" b="1"/>
              <a:t>二、已完成工作（2/3）— 代码解析与向量化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角三角形 7"/>
          <p:cNvSpPr/>
          <p:nvPr/>
        </p:nvSpPr>
        <p:spPr>
          <a:xfrm>
            <a:off x="4363834" y="1006057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直角三角形 8"/>
          <p:cNvSpPr/>
          <p:nvPr/>
        </p:nvSpPr>
        <p:spPr>
          <a:xfrm>
            <a:off x="10265724" y="993050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直角三角形 9"/>
          <p:cNvSpPr/>
          <p:nvPr/>
        </p:nvSpPr>
        <p:spPr>
          <a:xfrm>
            <a:off x="3548099" y="3732858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圆角矩形 2"/>
          <p:cNvSpPr/>
          <p:nvPr/>
        </p:nvSpPr>
        <p:spPr>
          <a:xfrm>
            <a:off x="48260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基于tree-sitter的函数级代码切分</a:t>
            </a:r>
            <a:endParaRPr kumimoji="1" lang="zh-CN" altLang="en-US"/>
          </a:p>
          <a:p>
            <a:r>
              <a:rPr sz="1100" b="0"/>
              <a:t>• 构建AST，精确提取函数名、类名、起止行号等完整元数据</a:t>
            </a:r>
          </a:p>
          <a:p>
            <a:r>
              <a:rPr sz="1100" b="0"/>
              <a:t>• 支持15种主流语言：Python、TypeScript、JavaScript、Java、Go、Rust、C/C++、C#、PHP、Swift等</a:t>
            </a:r>
          </a:p>
          <a:p>
            <a:r>
              <a:rPr sz="1100" b="0"/>
              <a:t>• 有效避免固定窗口切分导致的语义断裂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数据处理流水线</a:t>
            </a:r>
          </a:p>
          <a:p>
            <a:r>
              <a:rPr sz="1100" b="0"/>
              <a:t>• git clone自动拉取远程仓库，支持私有仓库令牌认证</a:t>
            </a:r>
          </a:p>
          <a:p>
            <a:r>
              <a:rPr sz="1100" b="0"/>
              <a:t>• 自动过滤二进制文件、编译产物、第三方依赖</a:t>
            </a:r>
          </a:p>
          <a:p>
            <a:r>
              <a:rPr sz="1100" b="0"/>
              <a:t>• 异常捕获与跳过机制，不影响其他文件处理</a:t>
            </a:r>
          </a:p>
        </p:txBody>
      </p:sp>
      <p:sp>
        <p:nvSpPr>
          <p:cNvPr id="12" name="圆角矩形 2"/>
          <p:cNvSpPr/>
          <p:nvPr/>
        </p:nvSpPr>
        <p:spPr>
          <a:xfrm>
            <a:off x="638449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Qwen3-VL-Embedding嵌入与Qdrant知识库</a:t>
            </a:r>
            <a:endParaRPr kumimoji="1" lang="zh-CN" altLang="en-US"/>
          </a:p>
          <a:p>
            <a:r>
              <a:rPr sz="1100" b="0"/>
              <a:t>• 集成阿里云Qwen3-VL-Embedding API，将函数级片段向量化</a:t>
            </a:r>
          </a:p>
          <a:p>
            <a:r>
              <a:rPr sz="1100" b="0"/>
              <a:t>• 每个仓库对应独立Qdrant集合，实现多仓库数据隔离</a:t>
            </a:r>
          </a:p>
          <a:p>
            <a:r>
              <a:rPr sz="1100" b="0"/>
              <a:t>• 向量写入携带完整元数据（文件路径、函数名、语言类型、行号）</a:t>
            </a:r>
          </a:p>
          <a:p>
            <a:r>
              <a:rPr sz="1100" b="0"/>
              <a:t>• 支持基于元数据的过滤检索</a:t>
            </a:r>
          </a:p>
        </p:txBody>
      </p:sp>
      <p:sp>
        <p:nvSpPr>
          <p:cNvPr id="13" name="对角圆角矩形 80"/>
          <p:cNvSpPr/>
          <p:nvPr/>
        </p:nvSpPr>
        <p:spPr>
          <a:xfrm>
            <a:off x="765742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代码解析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对角圆角矩形 80"/>
          <p:cNvSpPr/>
          <p:nvPr/>
        </p:nvSpPr>
        <p:spPr>
          <a:xfrm>
            <a:off x="175553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向量化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1800" b="1"/>
              <a:t>二、已完成工作（2/3）— 代码解析与向量化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角三角形 7"/>
          <p:cNvSpPr/>
          <p:nvPr/>
        </p:nvSpPr>
        <p:spPr>
          <a:xfrm>
            <a:off x="4363834" y="1006057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直角三角形 8"/>
          <p:cNvSpPr/>
          <p:nvPr/>
        </p:nvSpPr>
        <p:spPr>
          <a:xfrm>
            <a:off x="10265724" y="993050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直角三角形 9"/>
          <p:cNvSpPr/>
          <p:nvPr/>
        </p:nvSpPr>
        <p:spPr>
          <a:xfrm>
            <a:off x="3548099" y="3732858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圆角矩形 2"/>
          <p:cNvSpPr/>
          <p:nvPr/>
        </p:nvSpPr>
        <p:spPr>
          <a:xfrm>
            <a:off x="48260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检索增强问答（RAG）流程</a:t>
            </a:r>
            <a:endParaRPr kumimoji="1" lang="zh-CN" altLang="en-US"/>
          </a:p>
          <a:p>
            <a:r>
              <a:rPr sz="1100" b="0"/>
              <a:t>• 用户查询向量化（Qwen3-VL-Embedding）→ Qdrant余弦相似度检索（Top-k）</a:t>
            </a:r>
          </a:p>
          <a:p>
            <a:r>
              <a:rPr sz="1100" b="0"/>
              <a:t>• 将Top-k函数片段 + 结构化System Prompt → Qwen系列生成模型</a:t>
            </a:r>
          </a:p>
          <a:p>
            <a:r>
              <a:rPr sz="1100" b="0"/>
              <a:t>• 答案格式：结论 → 步骤说明 → 证据引用（文件路径/函数名/行号）</a:t>
            </a:r>
          </a:p>
          <a:p>
            <a:r>
              <a:rPr sz="1100" b="0"/>
              <a:t>• WebSocket流式输出，确保答案可追溯、可验证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前端界面开发（Next.js/React）</a:t>
            </a:r>
          </a:p>
          <a:p>
            <a:r>
              <a:rPr sz="1100" b="0"/>
              <a:t>• 注册/登录页、工作台（仓库接入/索引触发/Wiki生成）、问答交互界面</a:t>
            </a:r>
          </a:p>
          <a:p>
            <a:r>
              <a:rPr sz="1100" b="0"/>
              <a:t>• 模型配置界面、深色/浅色主题切换、中英文双语支持</a:t>
            </a:r>
          </a:p>
        </p:txBody>
      </p:sp>
      <p:sp>
        <p:nvSpPr>
          <p:cNvPr id="12" name="圆角矩形 2"/>
          <p:cNvSpPr/>
          <p:nvPr/>
        </p:nvSpPr>
        <p:spPr>
          <a:xfrm>
            <a:off x="638449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多轮迭代推理机制</a:t>
            </a:r>
            <a:endParaRPr kumimoji="1" lang="zh-CN" altLang="en-US"/>
          </a:p>
          <a:p>
            <a:r>
              <a:rPr sz="1100" b="0"/>
              <a:t>• 初次回答后，模型自动评估回答完整性</a:t>
            </a:r>
          </a:p>
          <a:p>
            <a:r>
              <a:rPr sz="1100" b="0"/>
              <a:t>• 若评估不足，自动生成追问继续检索推理</a:t>
            </a:r>
          </a:p>
          <a:p>
            <a:r>
              <a:rPr sz="1100" b="0"/>
              <a:t>• 达到满意答案或迭代上限时停止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Wiki自动生成功能</a:t>
            </a:r>
          </a:p>
          <a:p>
            <a:r>
              <a:rPr sz="1100" b="0"/>
              <a:t>• 基于多轮推理框架，自动产出结构化知识文档</a:t>
            </a:r>
          </a:p>
          <a:p>
            <a:r>
              <a:rPr sz="1100" b="0"/>
              <a:t>• 内容包含：函数说明、模块关系、架构图等</a:t>
            </a:r>
          </a:p>
        </p:txBody>
      </p:sp>
      <p:sp>
        <p:nvSpPr>
          <p:cNvPr id="13" name="对角圆角矩形 80"/>
          <p:cNvSpPr/>
          <p:nvPr/>
        </p:nvSpPr>
        <p:spPr>
          <a:xfrm>
            <a:off x="765742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RAG流程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对角圆角矩形 80"/>
          <p:cNvSpPr/>
          <p:nvPr/>
        </p:nvSpPr>
        <p:spPr>
          <a:xfrm>
            <a:off x="175553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多轮推理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1800" b="1"/>
              <a:t>二、已完成工作（3/3）— RAG问答与前端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角三角形 7"/>
          <p:cNvSpPr/>
          <p:nvPr/>
        </p:nvSpPr>
        <p:spPr>
          <a:xfrm>
            <a:off x="4363834" y="1006057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9" name="直角三角形 8"/>
          <p:cNvSpPr/>
          <p:nvPr/>
        </p:nvSpPr>
        <p:spPr>
          <a:xfrm>
            <a:off x="10265724" y="993050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0" name="直角三角形 9"/>
          <p:cNvSpPr/>
          <p:nvPr/>
        </p:nvSpPr>
        <p:spPr>
          <a:xfrm>
            <a:off x="3548099" y="3732858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圆角矩形 2"/>
          <p:cNvSpPr/>
          <p:nvPr/>
        </p:nvSpPr>
        <p:spPr>
          <a:xfrm>
            <a:off x="48260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检索增强问答（RAG）流程</a:t>
            </a:r>
            <a:endParaRPr kumimoji="1" lang="zh-CN" altLang="en-US"/>
          </a:p>
          <a:p>
            <a:r>
              <a:rPr sz="1100" b="0"/>
              <a:t>• 用户查询向量化（Qwen3-VL-Embedding）→ Qdrant余弦相似度检索（Top-k）</a:t>
            </a:r>
          </a:p>
          <a:p>
            <a:r>
              <a:rPr sz="1100" b="0"/>
              <a:t>• 将Top-k函数片段 + 结构化System Prompt → Qwen系列生成模型</a:t>
            </a:r>
          </a:p>
          <a:p>
            <a:r>
              <a:rPr sz="1100" b="0"/>
              <a:t>• 答案格式：结论 → 步骤说明 → 证据引用（文件路径/函数名/行号）</a:t>
            </a:r>
          </a:p>
          <a:p>
            <a:r>
              <a:rPr sz="1100" b="0"/>
              <a:t>• WebSocket流式输出，确保答案可追溯、可验证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前端界面开发（Next.js/React）</a:t>
            </a:r>
          </a:p>
          <a:p>
            <a:r>
              <a:rPr sz="1100" b="0"/>
              <a:t>• 注册/登录页、工作台（仓库接入/索引触发/Wiki生成）、问答交互界面</a:t>
            </a:r>
          </a:p>
          <a:p>
            <a:r>
              <a:rPr sz="1100" b="0"/>
              <a:t>• 模型配置界面、深色/浅色主题切换、中英文双语支持</a:t>
            </a:r>
          </a:p>
        </p:txBody>
      </p:sp>
      <p:sp>
        <p:nvSpPr>
          <p:cNvPr id="12" name="圆角矩形 2"/>
          <p:cNvSpPr/>
          <p:nvPr/>
        </p:nvSpPr>
        <p:spPr>
          <a:xfrm>
            <a:off x="6384490" y="1360312"/>
            <a:ext cx="5312210" cy="4933224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多轮迭代推理机制</a:t>
            </a:r>
            <a:endParaRPr kumimoji="1" lang="zh-CN" altLang="en-US"/>
          </a:p>
          <a:p>
            <a:r>
              <a:rPr sz="1100" b="0"/>
              <a:t>• 初次回答后，模型自动评估回答完整性</a:t>
            </a:r>
          </a:p>
          <a:p>
            <a:r>
              <a:rPr sz="1100" b="0"/>
              <a:t>• 若评估不足，自动生成追问继续检索推理</a:t>
            </a:r>
          </a:p>
          <a:p>
            <a:r>
              <a:rPr sz="1100" b="0"/>
              <a:t>• 达到满意答案或迭代上限时停止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Wiki自动生成功能</a:t>
            </a:r>
          </a:p>
          <a:p>
            <a:r>
              <a:rPr sz="1100" b="0"/>
              <a:t>• 基于多轮推理框架，自动产出结构化知识文档</a:t>
            </a:r>
          </a:p>
          <a:p>
            <a:r>
              <a:rPr sz="1100" b="0"/>
              <a:t>• 内容包含：函数说明、模块关系、架构图等</a:t>
            </a:r>
          </a:p>
        </p:txBody>
      </p:sp>
      <p:sp>
        <p:nvSpPr>
          <p:cNvPr id="13" name="对角圆角矩形 80"/>
          <p:cNvSpPr/>
          <p:nvPr/>
        </p:nvSpPr>
        <p:spPr>
          <a:xfrm>
            <a:off x="765742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RAG流程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对角圆角矩形 80"/>
          <p:cNvSpPr/>
          <p:nvPr/>
        </p:nvSpPr>
        <p:spPr>
          <a:xfrm>
            <a:off x="1755530" y="1006057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多轮推理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1800" b="1"/>
              <a:t>二、已完成工作（3/3）— RAG问答与前端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4" name="直角三角形 3"/>
          <p:cNvSpPr/>
          <p:nvPr/>
        </p:nvSpPr>
        <p:spPr>
          <a:xfrm>
            <a:off x="3548104" y="3617146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直角三角形 4"/>
          <p:cNvSpPr/>
          <p:nvPr/>
        </p:nvSpPr>
        <p:spPr>
          <a:xfrm>
            <a:off x="3548104" y="890345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圆角矩形 2"/>
          <p:cNvSpPr/>
          <p:nvPr/>
        </p:nvSpPr>
        <p:spPr>
          <a:xfrm>
            <a:off x="482600" y="3993424"/>
            <a:ext cx="11214100" cy="218440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① 增量索引与定时同步（3月底–4月初）</a:t>
            </a:r>
            <a:endParaRPr kumimoji="1" lang="zh-CN" altLang="en-US"/>
          </a:p>
          <a:p>
            <a:r>
              <a:rPr sz="1100" b="0"/>
              <a:t>   定时git pull + 变更检测，增量更新Qdrant向量，同步结果持久化至MySQL</a:t>
            </a:r>
          </a:p>
          <a:p>
            <a:r>
              <a:rPr sz="1100" b="0"/>
              <a:t>   支持用户手动触发全量重建或增量索引，以及手动删除仓库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② 用户反馈系统（4月上旬）</a:t>
            </a:r>
          </a:p>
          <a:p>
            <a:r>
              <a:rPr sz="1100" b="0"/>
              <a:t>   新增反馈表、反馈接口；前端添加反馈UI；系统自动更新质量评分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③ 查询历史展示（4月中旬）</a:t>
            </a:r>
          </a:p>
          <a:p>
            <a:r>
              <a:rPr sz="1100" b="0"/>
              <a:t>   历史记录按时间/仓库筛选分页，支持恢复完整对话上下文</a:t>
            </a:r>
          </a:p>
        </p:txBody>
      </p:sp>
      <p:sp>
        <p:nvSpPr>
          <p:cNvPr id="7" name="圆角矩形 2"/>
          <p:cNvSpPr/>
          <p:nvPr/>
        </p:nvSpPr>
        <p:spPr>
          <a:xfrm>
            <a:off x="482600" y="1244600"/>
            <a:ext cx="11214100" cy="218440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④ 实验评测（3月–4月）</a:t>
            </a:r>
            <a:endParaRPr kumimoji="1" lang="zh-CN" altLang="en-US"/>
          </a:p>
          <a:p>
            <a:r>
              <a:rPr sz="1100" b="0"/>
              <a:t>   选取多语言开源仓库构建测试集</a:t>
            </a:r>
          </a:p>
          <a:p>
            <a:r>
              <a:rPr sz="1100" b="0"/>
              <a:t>   三维度评估：检索质量、答案质量、系统性能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⑤ 系统优化迭代（4月）</a:t>
            </a:r>
          </a:p>
          <a:p>
            <a:r>
              <a:rPr sz="1100" b="0"/>
              <a:t>   优化嵌入策略 / 引入Reranker重排序；调整Prompt模板降低幻觉</a:t>
            </a:r>
          </a:p>
          <a:p>
            <a:r>
              <a:rPr sz="1100" b="0"/>
              <a:t>   优化Qdrant查询参数；完善前端交互体验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⑥ 毕业论文撰写与答辩准备（4月–5月）</a:t>
            </a:r>
          </a:p>
          <a:p>
            <a:r>
              <a:rPr sz="1100" b="0"/>
              <a:t>   整理实验数据与截图，撰写各章；准备答辩PPT与系统演示材料</a:t>
            </a:r>
          </a:p>
        </p:txBody>
      </p:sp>
      <p:sp>
        <p:nvSpPr>
          <p:cNvPr id="8" name="对角圆角矩形 80"/>
          <p:cNvSpPr/>
          <p:nvPr/>
        </p:nvSpPr>
        <p:spPr>
          <a:xfrm>
            <a:off x="939800" y="890345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200" b="1"/>
              <a:t>3月下旬–4月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对角圆角矩形 81"/>
          <p:cNvSpPr/>
          <p:nvPr/>
        </p:nvSpPr>
        <p:spPr>
          <a:xfrm>
            <a:off x="939800" y="3617146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/>
            <a:r>
              <a:rPr sz="1200" b="1"/>
              <a:t>4月–5月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三、后期工作计划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4" name="直角三角形 3"/>
          <p:cNvSpPr/>
          <p:nvPr/>
        </p:nvSpPr>
        <p:spPr>
          <a:xfrm>
            <a:off x="3548104" y="3617146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直角三角形 4"/>
          <p:cNvSpPr/>
          <p:nvPr/>
        </p:nvSpPr>
        <p:spPr>
          <a:xfrm>
            <a:off x="3548104" y="890345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圆角矩形 2"/>
          <p:cNvSpPr/>
          <p:nvPr/>
        </p:nvSpPr>
        <p:spPr>
          <a:xfrm>
            <a:off x="482600" y="3993424"/>
            <a:ext cx="11214100" cy="218440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① 增量索引与定时同步（3月底–4月初）</a:t>
            </a:r>
            <a:endParaRPr kumimoji="1" lang="zh-CN" altLang="en-US"/>
          </a:p>
          <a:p>
            <a:r>
              <a:rPr sz="1100" b="0"/>
              <a:t>   定时git pull + 变更检测，增量更新Qdrant向量，同步结果持久化至MySQL</a:t>
            </a:r>
          </a:p>
          <a:p>
            <a:r>
              <a:rPr sz="1100" b="0"/>
              <a:t>   支持用户手动触发全量重建或增量索引，以及手动删除仓库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② 用户反馈系统（4月上旬）</a:t>
            </a:r>
          </a:p>
          <a:p>
            <a:r>
              <a:rPr sz="1100" b="0"/>
              <a:t>   新增反馈表、反馈接口；前端添加反馈UI；系统自动更新质量评分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③ 查询历史展示（4月中旬）</a:t>
            </a:r>
          </a:p>
          <a:p>
            <a:r>
              <a:rPr sz="1100" b="0"/>
              <a:t>   历史记录按时间/仓库筛选分页，支持恢复完整对话上下文</a:t>
            </a:r>
          </a:p>
        </p:txBody>
      </p:sp>
      <p:sp>
        <p:nvSpPr>
          <p:cNvPr id="7" name="圆角矩形 2"/>
          <p:cNvSpPr/>
          <p:nvPr/>
        </p:nvSpPr>
        <p:spPr>
          <a:xfrm>
            <a:off x="482600" y="1244600"/>
            <a:ext cx="11214100" cy="218440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④ 实验评测（3月–4月）</a:t>
            </a:r>
            <a:endParaRPr kumimoji="1" lang="zh-CN" altLang="en-US"/>
          </a:p>
          <a:p>
            <a:r>
              <a:rPr sz="1100" b="0"/>
              <a:t>   选取多语言开源仓库构建测试集</a:t>
            </a:r>
          </a:p>
          <a:p>
            <a:r>
              <a:rPr sz="1100" b="0"/>
              <a:t>   三维度评估：检索质量、答案质量、系统性能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⑤ 系统优化迭代（4月）</a:t>
            </a:r>
          </a:p>
          <a:p>
            <a:r>
              <a:rPr sz="1100" b="0"/>
              <a:t>   优化嵌入策略 / 引入Reranker重排序；调整Prompt模板降低幻觉</a:t>
            </a:r>
          </a:p>
          <a:p>
            <a:r>
              <a:rPr sz="1100" b="0"/>
              <a:t>   优化Qdrant查询参数；完善前端交互体验</a:t>
            </a:r>
          </a:p>
          <a:p>
            <a:r>
              <a:rPr sz="1000" b="0"/>
              <a:t/>
            </a:r>
          </a:p>
          <a:p>
            <a:r>
              <a:rPr sz="1200" b="1">
                <a:solidFill>
                  <a:srgbClr val="005375"/>
                </a:solidFill>
              </a:rPr>
              <a:t>⑥ 毕业论文撰写与答辩准备（4月–5月）</a:t>
            </a:r>
          </a:p>
          <a:p>
            <a:r>
              <a:rPr sz="1100" b="0"/>
              <a:t>   整理实验数据与截图，撰写各章；准备答辩PPT与系统演示材料</a:t>
            </a:r>
          </a:p>
        </p:txBody>
      </p:sp>
      <p:sp>
        <p:nvSpPr>
          <p:cNvPr id="8" name="对角圆角矩形 80"/>
          <p:cNvSpPr/>
          <p:nvPr/>
        </p:nvSpPr>
        <p:spPr>
          <a:xfrm>
            <a:off x="939800" y="890345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200" b="1"/>
              <a:t>3月下旬–4月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对角圆角矩形 81"/>
          <p:cNvSpPr/>
          <p:nvPr/>
        </p:nvSpPr>
        <p:spPr>
          <a:xfrm>
            <a:off x="939800" y="3617146"/>
            <a:ext cx="2608304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/>
            <a:r>
              <a:rPr sz="1200" b="1"/>
              <a:t>4月–5月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三、后期工作计划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4" name="直角三角形 3"/>
          <p:cNvSpPr/>
          <p:nvPr/>
        </p:nvSpPr>
        <p:spPr>
          <a:xfrm>
            <a:off x="1417363" y="1144153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圆角矩形 2"/>
          <p:cNvSpPr/>
          <p:nvPr/>
        </p:nvSpPr>
        <p:spPr>
          <a:xfrm>
            <a:off x="498476" y="1344768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增量索引一致性保证</a:t>
            </a:r>
            <a:endParaRPr kumimoji="1" lang="zh-CN" altLang="en-US"/>
          </a:p>
          <a:p>
            <a:r>
              <a:rPr sz="1100" b="0"/>
              <a:t>• git pull后变更检测与Qdrant更新的原子性难以保证</a:t>
            </a:r>
          </a:p>
          <a:p>
            <a:r>
              <a:rPr sz="1100" b="0"/>
              <a:t>• 中断可能导致向量与代码版本不一致</a:t>
            </a:r>
          </a:p>
          <a:p>
            <a:r>
              <a:rPr sz="1100" b="0">
                <a:solidFill>
                  <a:srgbClr val="005375"/>
                </a:solidFill>
              </a:rPr>
              <a:t>→ 拟在MySQL和Qdrant中保存版本信息，更新失败时回退至旧版本</a:t>
            </a:r>
          </a:p>
        </p:txBody>
      </p:sp>
      <p:sp>
        <p:nvSpPr>
          <p:cNvPr id="6" name="对角圆角矩形 80"/>
          <p:cNvSpPr/>
          <p:nvPr/>
        </p:nvSpPr>
        <p:spPr>
          <a:xfrm>
            <a:off x="745950" y="1072932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问题一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直角三角形 6"/>
          <p:cNvSpPr/>
          <p:nvPr/>
        </p:nvSpPr>
        <p:spPr>
          <a:xfrm>
            <a:off x="1409425" y="2962905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圆角矩形 2"/>
          <p:cNvSpPr/>
          <p:nvPr/>
        </p:nvSpPr>
        <p:spPr>
          <a:xfrm>
            <a:off x="490538" y="3163520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多语言代码解析边界情况</a:t>
            </a:r>
            <a:endParaRPr kumimoji="1" lang="zh-CN" altLang="en-US"/>
          </a:p>
          <a:p>
            <a:r>
              <a:rPr sz="1100" b="0"/>
              <a:t>• Python装饰器修饰函数、动态/嵌套函数解析失败</a:t>
            </a:r>
          </a:p>
          <a:p>
            <a:r>
              <a:rPr sz="1100" b="0"/>
              <a:t>• C++钩子函数无法识别；Java注解处理器与内部类方法缺失</a:t>
            </a:r>
          </a:p>
          <a:p>
            <a:r>
              <a:rPr sz="1100" b="0">
                <a:solidFill>
                  <a:srgbClr val="005375"/>
                </a:solidFill>
              </a:rPr>
              <a:t>→ 需补充针对性解析规则以提高知识库覆盖率</a:t>
            </a:r>
          </a:p>
        </p:txBody>
      </p:sp>
      <p:sp>
        <p:nvSpPr>
          <p:cNvPr id="9" name="对角圆角矩形 80"/>
          <p:cNvSpPr/>
          <p:nvPr/>
        </p:nvSpPr>
        <p:spPr>
          <a:xfrm>
            <a:off x="738012" y="2891684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问题二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直角三角形 9"/>
          <p:cNvSpPr/>
          <p:nvPr/>
        </p:nvSpPr>
        <p:spPr>
          <a:xfrm>
            <a:off x="1401487" y="4781657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圆角矩形 2"/>
          <p:cNvSpPr/>
          <p:nvPr/>
        </p:nvSpPr>
        <p:spPr>
          <a:xfrm>
            <a:off x="482600" y="4982272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检索质量的参数调优</a:t>
            </a:r>
            <a:endParaRPr kumimoji="1" lang="zh-CN" altLang="en-US"/>
          </a:p>
          <a:p>
            <a:r>
              <a:rPr sz="1100" b="0"/>
              <a:t>• 不同规模仓库函数数量差异大，统一Top-k值难适应所有场景</a:t>
            </a:r>
          </a:p>
          <a:p>
            <a:r>
              <a:rPr sz="1100" b="0"/>
              <a:t>• Top-k过小遗漏证据；过大引入干扰信息</a:t>
            </a:r>
          </a:p>
          <a:p>
            <a:r>
              <a:rPr sz="1100" b="0">
                <a:solidFill>
                  <a:srgbClr val="005375"/>
                </a:solidFill>
              </a:rPr>
              <a:t>→ 当前为固定参数，最优配置尚需研发自适应策略</a:t>
            </a:r>
          </a:p>
        </p:txBody>
      </p:sp>
      <p:sp>
        <p:nvSpPr>
          <p:cNvPr id="12" name="对角圆角矩形 80"/>
          <p:cNvSpPr/>
          <p:nvPr/>
        </p:nvSpPr>
        <p:spPr>
          <a:xfrm>
            <a:off x="730074" y="4710436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问题三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四、存在的问题与困难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4" name="直角三角形 3"/>
          <p:cNvSpPr/>
          <p:nvPr/>
        </p:nvSpPr>
        <p:spPr>
          <a:xfrm>
            <a:off x="1417363" y="1144153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圆角矩形 2"/>
          <p:cNvSpPr/>
          <p:nvPr/>
        </p:nvSpPr>
        <p:spPr>
          <a:xfrm>
            <a:off x="498476" y="1344768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增量索引一致性保证</a:t>
            </a:r>
            <a:endParaRPr kumimoji="1" lang="zh-CN" altLang="en-US"/>
          </a:p>
          <a:p>
            <a:r>
              <a:rPr sz="1100" b="0"/>
              <a:t>• git pull后变更检测与Qdrant更新的原子性难以保证</a:t>
            </a:r>
          </a:p>
          <a:p>
            <a:r>
              <a:rPr sz="1100" b="0"/>
              <a:t>• 中断可能导致向量与代码版本不一致</a:t>
            </a:r>
          </a:p>
          <a:p>
            <a:r>
              <a:rPr sz="1100" b="0">
                <a:solidFill>
                  <a:srgbClr val="005375"/>
                </a:solidFill>
              </a:rPr>
              <a:t>→ 拟在MySQL和Qdrant中保存版本信息，更新失败时回退至旧版本</a:t>
            </a:r>
          </a:p>
        </p:txBody>
      </p:sp>
      <p:sp>
        <p:nvSpPr>
          <p:cNvPr id="6" name="对角圆角矩形 80"/>
          <p:cNvSpPr/>
          <p:nvPr/>
        </p:nvSpPr>
        <p:spPr>
          <a:xfrm>
            <a:off x="745950" y="1072932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问题一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直角三角形 6"/>
          <p:cNvSpPr/>
          <p:nvPr/>
        </p:nvSpPr>
        <p:spPr>
          <a:xfrm>
            <a:off x="1409425" y="2962905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圆角矩形 2"/>
          <p:cNvSpPr/>
          <p:nvPr/>
        </p:nvSpPr>
        <p:spPr>
          <a:xfrm>
            <a:off x="490538" y="3163520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多语言代码解析边界情况</a:t>
            </a:r>
            <a:endParaRPr kumimoji="1" lang="zh-CN" altLang="en-US"/>
          </a:p>
          <a:p>
            <a:r>
              <a:rPr sz="1100" b="0"/>
              <a:t>• Python装饰器修饰函数、动态/嵌套函数解析失败</a:t>
            </a:r>
          </a:p>
          <a:p>
            <a:r>
              <a:rPr sz="1100" b="0"/>
              <a:t>• C++钩子函数无法识别；Java注解处理器与内部类方法缺失</a:t>
            </a:r>
          </a:p>
          <a:p>
            <a:r>
              <a:rPr sz="1100" b="0">
                <a:solidFill>
                  <a:srgbClr val="005375"/>
                </a:solidFill>
              </a:rPr>
              <a:t>→ 需补充针对性解析规则以提高知识库覆盖率</a:t>
            </a:r>
          </a:p>
        </p:txBody>
      </p:sp>
      <p:sp>
        <p:nvSpPr>
          <p:cNvPr id="9" name="对角圆角矩形 80"/>
          <p:cNvSpPr/>
          <p:nvPr/>
        </p:nvSpPr>
        <p:spPr>
          <a:xfrm>
            <a:off x="738012" y="2891684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问题二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直角三角形 9"/>
          <p:cNvSpPr/>
          <p:nvPr/>
        </p:nvSpPr>
        <p:spPr>
          <a:xfrm>
            <a:off x="1401487" y="4781657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圆角矩形 2"/>
          <p:cNvSpPr/>
          <p:nvPr/>
        </p:nvSpPr>
        <p:spPr>
          <a:xfrm>
            <a:off x="482600" y="4982272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05375"/>
                </a:solidFill>
              </a:rPr>
              <a:t>检索质量的参数调优</a:t>
            </a:r>
            <a:endParaRPr kumimoji="1" lang="zh-CN" altLang="en-US"/>
          </a:p>
          <a:p>
            <a:r>
              <a:rPr sz="1100" b="0"/>
              <a:t>• 不同规模仓库函数数量差异大，统一Top-k值难适应所有场景</a:t>
            </a:r>
          </a:p>
          <a:p>
            <a:r>
              <a:rPr sz="1100" b="0"/>
              <a:t>• Top-k过小遗漏证据；过大引入干扰信息</a:t>
            </a:r>
          </a:p>
          <a:p>
            <a:r>
              <a:rPr sz="1100" b="0">
                <a:solidFill>
                  <a:srgbClr val="005375"/>
                </a:solidFill>
              </a:rPr>
              <a:t>→ 当前为固定参数，最优配置尚需研发自适应策略</a:t>
            </a:r>
          </a:p>
        </p:txBody>
      </p:sp>
      <p:sp>
        <p:nvSpPr>
          <p:cNvPr id="12" name="对角圆角矩形 80"/>
          <p:cNvSpPr/>
          <p:nvPr/>
        </p:nvSpPr>
        <p:spPr>
          <a:xfrm>
            <a:off x="730074" y="4710436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300" b="1"/>
              <a:t>问题三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四、存在的问题与困难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五、总结与论文完成可行性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直角三角形 2"/>
          <p:cNvSpPr/>
          <p:nvPr/>
        </p:nvSpPr>
        <p:spPr>
          <a:xfrm>
            <a:off x="2087328" y="892613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圆角矩形 2"/>
          <p:cNvSpPr/>
          <p:nvPr/>
        </p:nvSpPr>
        <p:spPr>
          <a:xfrm>
            <a:off x="482600" y="1164449"/>
            <a:ext cx="11214100" cy="101092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5375"/>
                </a:solidFill>
              </a:rPr>
              <a:t>【已完成核心工作】</a:t>
            </a:r>
            <a:endParaRPr kumimoji="1" lang="zh-CN" altLang="en-US"/>
          </a:p>
          <a:p>
            <a:r>
              <a:rPr sz="1200" b="0"/>
              <a:t>• 系统核心功能模块均已实现：用户认证、多语言代码解析（15种语言）</a:t>
            </a:r>
          </a:p>
          <a:p>
            <a:r>
              <a:rPr sz="1200" b="0"/>
              <a:t>• Qwen3系列模型嵌入与向量知识库构建；RAG检索增强问答；多轮推理与Wiki生成</a:t>
            </a:r>
          </a:p>
          <a:p>
            <a:r>
              <a:rPr sz="1200" b="0"/>
              <a:t>• 完整前端界面（Next.js/React）：注册登录/工作台/问答/Wiki/深色主题/中英双语</a:t>
            </a:r>
          </a:p>
          <a:p>
            <a:r>
              <a:rPr sz="1200" b="0"/>
              <a:t>• 用户注册登录、仓库接入、自然语言问答等核心功能正常运行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005375"/>
                </a:solidFill>
              </a:rPr>
              <a:t>【论文按时完成的可能性分析】</a:t>
            </a:r>
          </a:p>
          <a:p>
            <a:r>
              <a:rPr sz="1200" b="0"/>
              <a:t>• 增量索引模块已确定技术方案（git pull + Qdrant增量更新），工作量可控</a:t>
            </a:r>
          </a:p>
          <a:p>
            <a:r>
              <a:rPr sz="1200" b="0"/>
              <a:t>• 用户反馈系统仅需扩展数据库表与补充接口，实现难度低</a:t>
            </a:r>
          </a:p>
          <a:p>
            <a:r>
              <a:rPr sz="1200" b="0"/>
              <a:t>• 问答历史数据库已搭建，前端实现可参考成熟方案，工作量可控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C65911"/>
                </a:solidFill>
              </a:rPr>
              <a:t>结论：本课题可按时完成，具备充分的技术基础和进度保障。</a:t>
            </a:r>
          </a:p>
        </p:txBody>
      </p:sp>
      <p:sp>
        <p:nvSpPr>
          <p:cNvPr id="5" name="对角圆角矩形 80"/>
          <p:cNvSpPr/>
          <p:nvPr/>
        </p:nvSpPr>
        <p:spPr>
          <a:xfrm>
            <a:off x="730074" y="892613"/>
            <a:ext cx="1357217" cy="543672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400" b="1"/>
              <a:t>总  结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82600" y="136525"/>
            <a:ext cx="11214100" cy="615159"/>
          </a:xfrm>
        </p:spPr>
        <p:txBody>
          <a:bodyPr wrap="square">
            <a:noAutofit/>
          </a:bodyPr>
          <a:lstStyle/>
          <a:p>
            <a:r>
              <a:rPr sz="2000" b="1"/>
              <a:t>五、总结与论文完成可行性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直角三角形 2"/>
          <p:cNvSpPr/>
          <p:nvPr/>
        </p:nvSpPr>
        <p:spPr>
          <a:xfrm>
            <a:off x="2087328" y="892613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圆角矩形 2"/>
          <p:cNvSpPr/>
          <p:nvPr/>
        </p:nvSpPr>
        <p:spPr>
          <a:xfrm>
            <a:off x="482600" y="1164449"/>
            <a:ext cx="11214100" cy="101092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05375"/>
                </a:solidFill>
              </a:rPr>
              <a:t>【已完成核心工作】</a:t>
            </a:r>
            <a:endParaRPr kumimoji="1" lang="zh-CN" altLang="en-US"/>
          </a:p>
          <a:p>
            <a:r>
              <a:rPr sz="1200" b="0"/>
              <a:t>• 系统核心功能模块均已实现：用户认证、多语言代码解析（15种语言）</a:t>
            </a:r>
          </a:p>
          <a:p>
            <a:r>
              <a:rPr sz="1200" b="0"/>
              <a:t>• Qwen3系列模型嵌入与向量知识库构建；RAG检索增强问答；多轮推理与Wiki生成</a:t>
            </a:r>
          </a:p>
          <a:p>
            <a:r>
              <a:rPr sz="1200" b="0"/>
              <a:t>• 完整前端界面（Next.js/React）：注册登录/工作台/问答/Wiki/深色主题/中英双语</a:t>
            </a:r>
          </a:p>
          <a:p>
            <a:r>
              <a:rPr sz="1200" b="0"/>
              <a:t>• 用户注册登录、仓库接入、自然语言问答等核心功能正常运行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005375"/>
                </a:solidFill>
              </a:rPr>
              <a:t>【论文按时完成的可能性分析】</a:t>
            </a:r>
          </a:p>
          <a:p>
            <a:r>
              <a:rPr sz="1200" b="0"/>
              <a:t>• 增量索引模块已确定技术方案（git pull + Qdrant增量更新），工作量可控</a:t>
            </a:r>
          </a:p>
          <a:p>
            <a:r>
              <a:rPr sz="1200" b="0"/>
              <a:t>• 用户反馈系统仅需扩展数据库表与补充接口，实现难度低</a:t>
            </a:r>
          </a:p>
          <a:p>
            <a:r>
              <a:rPr sz="1200" b="0"/>
              <a:t>• 问答历史数据库已搭建，前端实现可参考成熟方案，工作量可控</a:t>
            </a:r>
          </a:p>
          <a:p>
            <a:r>
              <a:rPr sz="1100" b="0"/>
              <a:t/>
            </a:r>
          </a:p>
          <a:p>
            <a:r>
              <a:rPr sz="1300" b="1">
                <a:solidFill>
                  <a:srgbClr val="C65911"/>
                </a:solidFill>
              </a:rPr>
              <a:t>结论：本课题可按时完成，具备充分的技术基础和进度保障。</a:t>
            </a:r>
          </a:p>
        </p:txBody>
      </p:sp>
      <p:sp>
        <p:nvSpPr>
          <p:cNvPr id="5" name="对角圆角矩形 80"/>
          <p:cNvSpPr/>
          <p:nvPr/>
        </p:nvSpPr>
        <p:spPr>
          <a:xfrm>
            <a:off x="730074" y="892613"/>
            <a:ext cx="1357217" cy="543672"/>
          </a:xfrm>
          <a:prstGeom prst="rect">
            <a:avLst/>
          </a:prstGeom>
          <a:solidFill>
            <a:srgbClr val="00537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 wrap="square"/>
          <a:lstStyle/>
          <a:p>
            <a:pPr algn="ctr">
              <a:defRPr/>
            </a:pPr>
            <a:r>
              <a:rPr sz="1400" b="1"/>
              <a:t>总  结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427" y="3596360"/>
            <a:ext cx="6287881" cy="2749276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6296878"/>
            <a:ext cx="12191999" cy="56112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0" y="1589647"/>
            <a:ext cx="12192002" cy="1777150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 flipH="1">
            <a:off x="0" y="1149746"/>
            <a:ext cx="4933046" cy="0"/>
          </a:xfrm>
          <a:prstGeom prst="line">
            <a:avLst/>
          </a:prstGeom>
          <a:ln w="25400">
            <a:solidFill>
              <a:srgbClr val="00537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标题 1"/>
          <p:cNvSpPr txBox="1"/>
          <p:nvPr/>
        </p:nvSpPr>
        <p:spPr>
          <a:xfrm>
            <a:off x="495300" y="1812860"/>
            <a:ext cx="11201400" cy="1490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</a:t>
            </a:r>
            <a:r>
              <a:rPr lang="en-US" altLang="zh-CN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</a:t>
            </a:r>
            <a:endParaRPr lang="zh-CN" altLang="en-US" sz="4800" b="1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 flipH="1">
            <a:off x="7239000" y="1145795"/>
            <a:ext cx="4953000" cy="0"/>
          </a:xfrm>
          <a:prstGeom prst="line">
            <a:avLst/>
          </a:prstGeom>
          <a:ln w="25400">
            <a:solidFill>
              <a:srgbClr val="00537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788" y="219682"/>
            <a:ext cx="2199274" cy="961598"/>
          </a:xfrm>
          <a:prstGeom prst="rect">
            <a:avLst/>
          </a:prstGeom>
        </p:spPr>
      </p:pic>
      <p:sp>
        <p:nvSpPr>
          <p:cNvPr id="9" name="副标题 2"/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0" y="4064000"/>
            <a:ext cx="12192000" cy="680085"/>
          </a:xfrm>
        </p:spPr>
        <p:txBody>
          <a:bodyPr wrap="square">
            <a:normAutofit/>
          </a:bodyPr>
          <a:lstStyle/>
          <a:p>
            <a:pPr marL="0" indent="0" algn="ctr">
              <a:buNone/>
            </a:pPr>
            <a:r>
              <a:rPr sz="1600" b="0"/>
              <a:t>汇报人：李栋梁    指导教师：王金宝</a:t>
            </a:r>
            <a:endParaRPr lang="en-US" altLang="zh-CN" sz="2400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副标题 2"/>
          <p:cNvSpPr txBox="1"/>
          <p:nvPr>
            <p:custDataLst>
              <p:tags r:id="rId5"/>
            </p:custDataLst>
          </p:nvPr>
        </p:nvSpPr>
        <p:spPr>
          <a:xfrm>
            <a:off x="0" y="4602480"/>
            <a:ext cx="12192000" cy="680085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400" b="0"/>
              <a:t>2026年03月18日</a:t>
            </a:r>
            <a:endParaRPr lang="zh-CN" altLang="en-US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679" y="6415212"/>
            <a:ext cx="1655733" cy="3241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427" y="3596360"/>
            <a:ext cx="6287881" cy="2749276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6296878"/>
            <a:ext cx="12191999" cy="56112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0" y="1589647"/>
            <a:ext cx="12192002" cy="1777150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 flipH="1">
            <a:off x="0" y="1149746"/>
            <a:ext cx="4933046" cy="0"/>
          </a:xfrm>
          <a:prstGeom prst="line">
            <a:avLst/>
          </a:prstGeom>
          <a:ln w="25400">
            <a:solidFill>
              <a:srgbClr val="00537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标题 1"/>
          <p:cNvSpPr txBox="1"/>
          <p:nvPr/>
        </p:nvSpPr>
        <p:spPr>
          <a:xfrm>
            <a:off x="495300" y="1812860"/>
            <a:ext cx="11201400" cy="1490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</a:t>
            </a:r>
            <a:r>
              <a:rPr lang="en-US" altLang="zh-CN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</a:t>
            </a:r>
            <a:endParaRPr lang="zh-CN" altLang="en-US" sz="4800" b="1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 flipH="1">
            <a:off x="7239000" y="1145795"/>
            <a:ext cx="4953000" cy="0"/>
          </a:xfrm>
          <a:prstGeom prst="line">
            <a:avLst/>
          </a:prstGeom>
          <a:ln w="25400">
            <a:solidFill>
              <a:srgbClr val="00537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788" y="219682"/>
            <a:ext cx="2199274" cy="961598"/>
          </a:xfrm>
          <a:prstGeom prst="rect">
            <a:avLst/>
          </a:prstGeom>
        </p:spPr>
      </p:pic>
      <p:sp>
        <p:nvSpPr>
          <p:cNvPr id="9" name="副标题 2"/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0" y="4064000"/>
            <a:ext cx="12192000" cy="680085"/>
          </a:xfrm>
        </p:spPr>
        <p:txBody>
          <a:bodyPr wrap="square">
            <a:normAutofit/>
          </a:bodyPr>
          <a:lstStyle/>
          <a:p>
            <a:pPr marL="0" indent="0" algn="ctr">
              <a:buNone/>
            </a:pPr>
            <a:r>
              <a:rPr sz="1600" b="0"/>
              <a:t>汇报人：李栋梁    指导教师：王金宝</a:t>
            </a:r>
            <a:endParaRPr lang="en-US" altLang="zh-CN" sz="2400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副标题 2"/>
          <p:cNvSpPr txBox="1"/>
          <p:nvPr>
            <p:custDataLst>
              <p:tags r:id="rId5"/>
            </p:custDataLst>
          </p:nvPr>
        </p:nvSpPr>
        <p:spPr>
          <a:xfrm>
            <a:off x="0" y="4602480"/>
            <a:ext cx="12192000" cy="680085"/>
          </a:xfrm>
          <a:prstGeom prst="rect">
            <a:avLst/>
          </a:prstGeom>
        </p:spPr>
        <p:txBody>
          <a:bodyPr vert="horz" lIns="91440" tIns="45720" rIns="91440" bIns="45720" rtlCol="0" wrap="square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400" b="0"/>
              <a:t>2026年03月18日</a:t>
            </a:r>
            <a:endParaRPr lang="zh-CN" altLang="en-US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679" y="6415212"/>
            <a:ext cx="1655733" cy="3241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9375147" y="6578600"/>
            <a:ext cx="2743200" cy="279400"/>
          </a:xfrm>
        </p:spPr>
        <p:txBody>
          <a:bodyPr/>
          <a:lstStyle/>
          <a:p>
            <a:fld id="{3ACD1EC8-6F57-41A7-99F1-FEDB2874BA2B}" type="slidenum">
              <a:rPr lang="zh-CN" altLang="en-US" smtClean="0"/>
            </a:fld>
            <a:endParaRPr lang="zh-CN" altLang="en-US"/>
          </a:p>
        </p:txBody>
      </p:sp>
      <p:sp>
        <p:nvSpPr>
          <p:cNvPr id="4" name="直角三角形 3"/>
          <p:cNvSpPr/>
          <p:nvPr/>
        </p:nvSpPr>
        <p:spPr>
          <a:xfrm>
            <a:off x="1417363" y="1144153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圆角矩形 2"/>
          <p:cNvSpPr/>
          <p:nvPr/>
        </p:nvSpPr>
        <p:spPr>
          <a:xfrm>
            <a:off x="498476" y="1344768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对角圆角矩形 80"/>
          <p:cNvSpPr/>
          <p:nvPr/>
        </p:nvSpPr>
        <p:spPr>
          <a:xfrm>
            <a:off x="745950" y="1072932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/>
          <a:lstStyle/>
          <a:p>
            <a:pPr algn="ctr">
              <a:defRPr/>
            </a:pPr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直角三角形 6"/>
          <p:cNvSpPr/>
          <p:nvPr/>
        </p:nvSpPr>
        <p:spPr>
          <a:xfrm>
            <a:off x="1409425" y="2962905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" name="圆角矩形 2"/>
          <p:cNvSpPr/>
          <p:nvPr/>
        </p:nvSpPr>
        <p:spPr>
          <a:xfrm>
            <a:off x="490538" y="3163520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对角圆角矩形 80"/>
          <p:cNvSpPr/>
          <p:nvPr/>
        </p:nvSpPr>
        <p:spPr>
          <a:xfrm>
            <a:off x="738012" y="2891684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/>
          <a:lstStyle/>
          <a:p>
            <a:pPr algn="ctr">
              <a:defRPr/>
            </a:pPr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直角三角形 9"/>
          <p:cNvSpPr/>
          <p:nvPr/>
        </p:nvSpPr>
        <p:spPr>
          <a:xfrm>
            <a:off x="1401487" y="4781657"/>
            <a:ext cx="104416" cy="543672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 w="19050">
            <a:noFill/>
            <a:prstDash val="solid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endParaRPr lang="zh-CN" altLang="en-US" sz="2000" b="1" dirty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1" name="圆角矩形 2"/>
          <p:cNvSpPr/>
          <p:nvPr/>
        </p:nvSpPr>
        <p:spPr>
          <a:xfrm>
            <a:off x="482600" y="4982272"/>
            <a:ext cx="11214100" cy="1275080"/>
          </a:xfrm>
          <a:prstGeom prst="roundRect">
            <a:avLst>
              <a:gd name="adj" fmla="val 2837"/>
            </a:avLst>
          </a:prstGeom>
          <a:solidFill>
            <a:schemeClr val="bg1"/>
          </a:solidFill>
          <a:ln>
            <a:solidFill>
              <a:srgbClr val="00537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对角圆角矩形 80"/>
          <p:cNvSpPr/>
          <p:nvPr/>
        </p:nvSpPr>
        <p:spPr>
          <a:xfrm>
            <a:off x="730074" y="4710436"/>
            <a:ext cx="671417" cy="54367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8581" tIns="49291" rIns="98581" bIns="49291" anchor="ctr"/>
          <a:lstStyle/>
          <a:p>
            <a:pPr algn="ctr">
              <a:defRPr/>
            </a:pPr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82600" y="136525"/>
            <a:ext cx="11214100" cy="615159"/>
          </a:xfrm>
        </p:spPr>
        <p:txBody>
          <a:bodyPr>
            <a:noAutofit/>
          </a:bodyPr>
          <a:lstStyle/>
          <a:p>
            <a:r>
              <a:rPr lang="zh-CN" altLang="en-US" sz="2800" b="1">
                <a:latin typeface="微软雅黑" panose="020B0503020204020204" pitchFamily="34" charset="-122"/>
                <a:ea typeface="微软雅黑" panose="020B0503020204020204" pitchFamily="34" charset="-122"/>
              </a:rPr>
              <a:t>小标题处</a:t>
            </a:r>
            <a:endParaRPr lang="zh-CN" altLang="en-US" sz="28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427" y="3596360"/>
            <a:ext cx="6287881" cy="2749276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0" y="6296878"/>
            <a:ext cx="12191999" cy="561122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0" y="1589647"/>
            <a:ext cx="12192002" cy="1777150"/>
          </a:xfrm>
          <a:prstGeom prst="rect">
            <a:avLst/>
          </a:prstGeom>
          <a:solidFill>
            <a:srgbClr val="0053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" name="直接连接符 3"/>
          <p:cNvCxnSpPr/>
          <p:nvPr/>
        </p:nvCxnSpPr>
        <p:spPr>
          <a:xfrm flipH="1">
            <a:off x="0" y="1149746"/>
            <a:ext cx="4933046" cy="0"/>
          </a:xfrm>
          <a:prstGeom prst="line">
            <a:avLst/>
          </a:prstGeom>
          <a:ln w="25400">
            <a:solidFill>
              <a:srgbClr val="00537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标题 1"/>
          <p:cNvSpPr txBox="1"/>
          <p:nvPr/>
        </p:nvSpPr>
        <p:spPr>
          <a:xfrm>
            <a:off x="495300" y="1812860"/>
            <a:ext cx="11201400" cy="14905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</a:t>
            </a:r>
            <a:r>
              <a:rPr lang="en-US" altLang="zh-CN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4800" b="1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</a:t>
            </a:r>
            <a:endParaRPr lang="zh-CN" altLang="en-US" sz="4800" b="1" dirty="0" smtClean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 flipH="1">
            <a:off x="7239000" y="1145795"/>
            <a:ext cx="4953000" cy="0"/>
          </a:xfrm>
          <a:prstGeom prst="line">
            <a:avLst/>
          </a:prstGeom>
          <a:ln w="25400">
            <a:solidFill>
              <a:srgbClr val="00537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7788" y="219682"/>
            <a:ext cx="2199274" cy="961598"/>
          </a:xfrm>
          <a:prstGeom prst="rect">
            <a:avLst/>
          </a:prstGeom>
        </p:spPr>
      </p:pic>
      <p:sp>
        <p:nvSpPr>
          <p:cNvPr id="9" name="副标题 2"/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0" y="4064000"/>
            <a:ext cx="12192000" cy="68008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汇报人：</a:t>
            </a:r>
            <a:r>
              <a:rPr lang="en-US" altLang="zh-CN" sz="2400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xxx</a:t>
            </a:r>
            <a:endParaRPr lang="en-US" altLang="zh-CN" sz="2400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副标题 2"/>
          <p:cNvSpPr txBox="1"/>
          <p:nvPr>
            <p:custDataLst>
              <p:tags r:id="rId5"/>
            </p:custDataLst>
          </p:nvPr>
        </p:nvSpPr>
        <p:spPr>
          <a:xfrm>
            <a:off x="0" y="4602480"/>
            <a:ext cx="12192000" cy="6800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202X</a:t>
            </a:r>
            <a:r>
              <a:rPr lang="zh-CN" altLang="en-US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年</a:t>
            </a:r>
            <a:r>
              <a:rPr lang="en-US" altLang="zh-CN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X</a:t>
            </a:r>
            <a:r>
              <a:rPr lang="zh-CN" altLang="en-US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月</a:t>
            </a:r>
            <a:r>
              <a:rPr lang="en-US" altLang="zh-CN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XX</a:t>
            </a:r>
            <a:r>
              <a:rPr lang="zh-CN" altLang="en-US" b="1" dirty="0">
                <a:solidFill>
                  <a:srgbClr val="00537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日</a:t>
            </a:r>
            <a:endParaRPr lang="zh-CN" altLang="en-US" b="1" dirty="0">
              <a:solidFill>
                <a:srgbClr val="00537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679" y="6415212"/>
            <a:ext cx="1655733" cy="3241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commondata" val="eyJoZGlkIjoiZmE1MGJjM2NiMjc3NzdhNjgzMjQ5NTVmZTdkODc0MjM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</Words>
  <Application>WPS 演示</Application>
  <PresentationFormat>宽屏</PresentationFormat>
  <Paragraphs>152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3" baseType="lpstr">
      <vt:lpstr>Arial</vt:lpstr>
      <vt:lpstr>宋体</vt:lpstr>
      <vt:lpstr>Wingdings</vt:lpstr>
      <vt:lpstr>微软雅黑</vt:lpstr>
      <vt:lpstr>Arial Black</vt:lpstr>
      <vt:lpstr>黑体</vt:lpstr>
      <vt:lpstr>等线</vt:lpstr>
      <vt:lpstr>Arial Unicode MS</vt:lpstr>
      <vt:lpstr>等线 Light</vt:lpstr>
      <vt:lpstr>Calibri</vt:lpstr>
      <vt:lpstr>Office 主题​​</vt:lpstr>
      <vt:lpstr>点击此处添加汇报标题</vt:lpstr>
      <vt:lpstr>目录1</vt:lpstr>
      <vt:lpstr>目录2</vt:lpstr>
      <vt:lpstr>目录1</vt:lpstr>
      <vt:lpstr>目录2</vt:lpstr>
      <vt:lpstr>小标题处</vt:lpstr>
      <vt:lpstr>小标题处</vt:lpstr>
      <vt:lpstr>小标题处</vt:lpstr>
      <vt:lpstr>小标题处</vt:lpstr>
      <vt:lpstr>小标题处</vt:lpstr>
      <vt:lpstr>小标题处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点击此处添加汇报标题</dc:title>
  <dc:creator>Administrator</dc:creator>
  <cp:lastModifiedBy>July</cp:lastModifiedBy>
  <cp:revision>9</cp:revision>
  <dcterms:created xsi:type="dcterms:W3CDTF">2023-12-02T07:13:00Z</dcterms:created>
  <dcterms:modified xsi:type="dcterms:W3CDTF">2023-12-04T02:32:13Z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1641D4B3E5424F488A6F86CE5C274C66_12</vt:lpwstr>
  </property>
  <property fmtid="{D5CDD505-2E9C-101B-9397-08002B2CF9AE}" pid="3" name="KSOProductBuildVer">
    <vt:lpwstr>2052-12.1.0.15990</vt:lpwstr>
  </property>
</Properties>
</file>